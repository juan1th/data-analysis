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4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96" r:id="rId7"/>
    <p:sldId id="287" r:id="rId8"/>
    <p:sldId id="308" r:id="rId9"/>
    <p:sldId id="300" r:id="rId10"/>
    <p:sldId id="310" r:id="rId11"/>
    <p:sldId id="297" r:id="rId12"/>
    <p:sldId id="288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285" r:id="rId21"/>
  </p:sldIdLst>
  <p:sldSz cx="9144000" cy="5143500" type="screen16x9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C8012D-A048-4010-A6DE-CEE7025A8D7D}">
          <p14:sldIdLst>
            <p14:sldId id="256"/>
            <p14:sldId id="257"/>
            <p14:sldId id="296"/>
            <p14:sldId id="287"/>
            <p14:sldId id="308"/>
            <p14:sldId id="300"/>
            <p14:sldId id="310"/>
            <p14:sldId id="297"/>
            <p14:sldId id="288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Results" id="{516AF93F-2201-4417-B0D2-CE8D2CDFF73D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orient="horz" pos="1003" userDrawn="1">
          <p15:clr>
            <a:srgbClr val="A4A3A4"/>
          </p15:clr>
        </p15:guide>
        <p15:guide id="3" pos="226" userDrawn="1">
          <p15:clr>
            <a:srgbClr val="A4A3A4"/>
          </p15:clr>
        </p15:guide>
        <p15:guide id="4" pos="5534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orient="horz" pos="686" userDrawn="1">
          <p15:clr>
            <a:srgbClr val="A4A3A4"/>
          </p15:clr>
        </p15:guide>
        <p15:guide id="7" orient="horz" pos="4178" userDrawn="1">
          <p15:clr>
            <a:srgbClr val="A4A3A4"/>
          </p15:clr>
        </p15:guide>
        <p15:guide id="8" orient="horz" pos="2879">
          <p15:clr>
            <a:srgbClr val="A4A3A4"/>
          </p15:clr>
        </p15:guide>
        <p15:guide id="9" orient="horz" pos="752">
          <p15:clr>
            <a:srgbClr val="A4A3A4"/>
          </p15:clr>
        </p15:guide>
        <p15:guide id="10" orient="horz" pos="515">
          <p15:clr>
            <a:srgbClr val="A4A3A4"/>
          </p15:clr>
        </p15:guide>
        <p15:guide id="11" orient="horz" pos="31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0FA"/>
    <a:srgbClr val="F7A1FC"/>
    <a:srgbClr val="FF8DFC"/>
    <a:srgbClr val="FFA9FA"/>
    <a:srgbClr val="F7A600"/>
    <a:srgbClr val="00AFCB"/>
    <a:srgbClr val="005C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1D9AF-4501-1B84-47CF-20E12920A11E}" v="26" dt="2026-01-28T21:20:42.978"/>
    <p1510:client id="{65233882-70CA-8867-4072-13A6176E3041}" v="39" dt="2026-01-28T19:13:03.504"/>
    <p1510:client id="{6EBF7230-550E-7592-9500-9B975C904657}" v="101" dt="2026-01-28T19:11:08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576" y="114"/>
      </p:cViewPr>
      <p:guideLst>
        <p:guide orient="horz" pos="3838"/>
        <p:guide orient="horz" pos="1003"/>
        <p:guide pos="226"/>
        <p:guide pos="5534"/>
        <p:guide pos="2880"/>
        <p:guide orient="horz" pos="686"/>
        <p:guide orient="horz" pos="4178"/>
        <p:guide orient="horz" pos="2879"/>
        <p:guide orient="horz" pos="752"/>
        <p:guide orient="horz" pos="515"/>
        <p:guide orient="horz" pos="31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9A364-0348-2F43-99DF-D2B200CF0081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E9922-510D-BA4D-8EA2-480C80FDB6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512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9BEE0-598C-4858-A439-753E34679212}" type="datetimeFigureOut">
              <a:rPr lang="de-AT" smtClean="0"/>
              <a:t>29.01.2026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A223-4F50-4DD6-9CC4-15E4F51256E0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2545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.</a:t>
            </a:r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9575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.</a:t>
            </a:r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90778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 has 4 connections: MISO, MOSI, CLK, CS</a:t>
            </a:r>
          </a:p>
          <a:p>
            <a:br>
              <a:rPr lang="en-US" dirty="0"/>
            </a:br>
            <a:r>
              <a:rPr lang="en-US" dirty="0"/>
              <a:t>Module had to provide a CLK (Mode 0), assert the CS (active low), read the serial data on the MISO and forward it in parallel</a:t>
            </a:r>
          </a:p>
          <a:p>
            <a:br>
              <a:rPr lang="en-US" dirty="0"/>
            </a:br>
            <a:r>
              <a:rPr lang="en-US" dirty="0"/>
              <a:t>CLK divided to 10MHz which is the max value for the SPI CLK according to the datasheet of the ADC</a:t>
            </a:r>
          </a:p>
          <a:p>
            <a:br>
              <a:rPr lang="en-US" dirty="0"/>
            </a:br>
            <a:r>
              <a:rPr lang="en-US" dirty="0"/>
              <a:t>Implement a counter for timing</a:t>
            </a:r>
          </a:p>
          <a:p>
            <a:r>
              <a:rPr lang="en-US" dirty="0"/>
              <a:t>- counts from 0 to 17 and resets</a:t>
            </a:r>
            <a:br>
              <a:rPr lang="en-US" dirty="0"/>
            </a:br>
            <a:r>
              <a:rPr lang="en-US" dirty="0"/>
              <a:t>- 4x leading 0s</a:t>
            </a:r>
            <a:br>
              <a:rPr lang="en-US" dirty="0"/>
            </a:br>
            <a:r>
              <a:rPr lang="en-US" dirty="0"/>
              <a:t>- 12 bit data</a:t>
            </a:r>
            <a:br>
              <a:rPr lang="en-US" dirty="0"/>
            </a:br>
            <a:r>
              <a:rPr lang="en-US" dirty="0"/>
              <a:t>- 2 </a:t>
            </a:r>
            <a:r>
              <a:rPr lang="en-US" dirty="0" err="1"/>
              <a:t>clk</a:t>
            </a:r>
            <a:r>
              <a:rPr lang="en-US" dirty="0"/>
              <a:t> cycles CS </a:t>
            </a:r>
            <a:r>
              <a:rPr lang="en-US" dirty="0" err="1"/>
              <a:t>deasserted</a:t>
            </a:r>
            <a:br>
              <a:rPr lang="en-US" dirty="0"/>
            </a:br>
            <a:r>
              <a:rPr lang="en-US" dirty="0"/>
              <a:t>- reset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95191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SPI has 4 connections: MISO, MOSI, CLK, CS</a:t>
            </a:r>
          </a:p>
          <a:p>
            <a:br>
              <a:rPr lang="en-US"/>
            </a:br>
            <a:r>
              <a:rPr lang="en-US"/>
              <a:t>Module had to provide a CLK (Mode 0), assert the CS (active low), read the serial data on the MISO and forward it in parallel</a:t>
            </a:r>
          </a:p>
          <a:p>
            <a:br>
              <a:rPr lang="en-US"/>
            </a:br>
            <a:r>
              <a:rPr lang="en-US"/>
              <a:t>CLK divided to 10MHz which is the max value for the SPI CLK according to the datasheet of the ADC</a:t>
            </a:r>
          </a:p>
          <a:p>
            <a:br>
              <a:rPr lang="en-US"/>
            </a:br>
            <a:r>
              <a:rPr lang="en-US"/>
              <a:t>Implement a counter for timing</a:t>
            </a:r>
          </a:p>
          <a:p>
            <a:r>
              <a:rPr lang="en-US"/>
              <a:t>- counts from 0 to 17 and resets</a:t>
            </a:r>
            <a:br>
              <a:rPr lang="en-US"/>
            </a:br>
            <a:r>
              <a:rPr lang="en-US"/>
              <a:t>- 4x leading 0s</a:t>
            </a:r>
            <a:br>
              <a:rPr lang="en-US"/>
            </a:br>
            <a:r>
              <a:rPr lang="en-US"/>
              <a:t>- 12 bit data</a:t>
            </a:r>
            <a:br>
              <a:rPr lang="en-US"/>
            </a:br>
            <a:r>
              <a:rPr lang="en-US"/>
              <a:t>- 2 </a:t>
            </a:r>
            <a:r>
              <a:rPr lang="en-US" err="1"/>
              <a:t>clk</a:t>
            </a:r>
            <a:r>
              <a:rPr lang="en-US"/>
              <a:t> cycles CS </a:t>
            </a:r>
            <a:r>
              <a:rPr lang="en-US" err="1"/>
              <a:t>deasserted</a:t>
            </a:r>
            <a:br>
              <a:rPr lang="en-US"/>
            </a:br>
            <a:r>
              <a:rPr lang="en-US"/>
              <a:t>- reset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54984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5646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816769"/>
            <a:ext cx="9144000" cy="41805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77587" y="1051413"/>
            <a:ext cx="8596539" cy="110251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77587" y="3349398"/>
            <a:ext cx="8596539" cy="1314450"/>
          </a:xfrm>
        </p:spPr>
        <p:txBody>
          <a:bodyPr anchor="b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6961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2160">
          <p15:clr>
            <a:srgbClr val="FBAE40"/>
          </p15:clr>
        </p15:guide>
        <p15:guide id="1" pos="226">
          <p15:clr>
            <a:srgbClr val="FBAE40"/>
          </p15:clr>
        </p15:guide>
        <p15:guide id="2" pos="5534">
          <p15:clr>
            <a:srgbClr val="FBAE40"/>
          </p15:clr>
        </p15:guide>
        <p15:guide id="3" orient="horz" pos="1003">
          <p15:clr>
            <a:srgbClr val="FBAE40"/>
          </p15:clr>
        </p15:guide>
        <p15:guide id="4" orient="horz" pos="3838">
          <p15:clr>
            <a:srgbClr val="FBAE40"/>
          </p15:clr>
        </p15:guide>
        <p15:guide id="5" orient="horz" pos="686">
          <p15:clr>
            <a:srgbClr val="FBAE40"/>
          </p15:clr>
        </p15:guide>
        <p15:guide id="6" orient="horz" pos="4178">
          <p15:clr>
            <a:srgbClr val="FBAE40"/>
          </p15:clr>
        </p15:guide>
        <p15:guide id="7" pos="170">
          <p15:clr>
            <a:srgbClr val="FBAE40"/>
          </p15:clr>
        </p15:guide>
        <p15:guide id="8" pos="559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459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816769"/>
            <a:ext cx="9144000" cy="41805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1064539"/>
            <a:ext cx="860425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3444479"/>
            <a:ext cx="860425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>
          <a:xfrm>
            <a:off x="26498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47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1194197"/>
            <a:ext cx="9144000" cy="3375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8775" y="1949734"/>
            <a:ext cx="8604250" cy="1021556"/>
          </a:xfrm>
        </p:spPr>
        <p:txBody>
          <a:bodyPr anchor="b"/>
          <a:lstStyle>
            <a:lvl1pPr algn="ctr">
              <a:defRPr sz="4000" b="1" i="1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3254659"/>
            <a:ext cx="8604251" cy="112514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705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6835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63641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3166759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53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ns plus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836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26498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16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1999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4572000" y="1204233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358776" y="1194197"/>
            <a:ext cx="2765425" cy="33754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2740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71845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271846" y="1194197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6019801" y="1194197"/>
            <a:ext cx="2765425" cy="33754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95608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816769"/>
            <a:ext cx="860228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1751750"/>
            <a:ext cx="4227513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69876" y="2231572"/>
            <a:ext cx="4227513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751750"/>
            <a:ext cx="4227130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231572"/>
            <a:ext cx="4229100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3160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324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4981" y="816769"/>
            <a:ext cx="3200533" cy="901814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816769"/>
            <a:ext cx="5297105" cy="3752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69876" y="1719943"/>
            <a:ext cx="3195638" cy="284967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0722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6" y="4144565"/>
            <a:ext cx="4302125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58775" y="816769"/>
            <a:ext cx="8426450" cy="332779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1999" y="4144565"/>
            <a:ext cx="4302125" cy="425054"/>
          </a:xfrm>
        </p:spPr>
        <p:txBody>
          <a:bodyPr anchor="b"/>
          <a:lstStyle>
            <a:lvl1pPr marL="0" indent="0" algn="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467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1194197"/>
            <a:ext cx="9144000" cy="394930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9202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153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816769"/>
            <a:ext cx="2244725" cy="3752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69876" y="816769"/>
            <a:ext cx="6207125" cy="3752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09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Header_Tuerkis.jpg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238"/>
            <a:ext cx="9144000" cy="654460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69875" y="817886"/>
            <a:ext cx="860228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1758043"/>
            <a:ext cx="8604250" cy="281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393894" y="217299"/>
            <a:ext cx="6344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cap="all">
                <a:solidFill>
                  <a:schemeClr val="accent1"/>
                </a:solidFill>
                <a:latin typeface="+mn-lt"/>
                <a:cs typeface="Estrangelo Edessa" pitchFamily="66" charset="0"/>
              </a:rPr>
              <a:t>Electronics and Computer Engineering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738555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C68F6-CEB4-C040-B3A3-CADDD499EB7C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14" name="Gerade Verbindung 13"/>
          <p:cNvCxnSpPr/>
          <p:nvPr/>
        </p:nvCxnSpPr>
        <p:spPr>
          <a:xfrm>
            <a:off x="355601" y="4733925"/>
            <a:ext cx="8423275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13"/>
          <p:cNvCxnSpPr>
            <a:cxnSpLocks/>
          </p:cNvCxnSpPr>
          <p:nvPr/>
        </p:nvCxnSpPr>
        <p:spPr>
          <a:xfrm>
            <a:off x="269874" y="4733925"/>
            <a:ext cx="8604000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34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0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003">
          <p15:clr>
            <a:srgbClr val="F26B43"/>
          </p15:clr>
        </p15:guide>
        <p15:guide id="1" pos="2880">
          <p15:clr>
            <a:srgbClr val="F26B43"/>
          </p15:clr>
        </p15:guide>
        <p15:guide id="2" pos="226">
          <p15:clr>
            <a:srgbClr val="F26B43"/>
          </p15:clr>
        </p15:guide>
        <p15:guide id="3" pos="170">
          <p15:clr>
            <a:srgbClr val="F26B43"/>
          </p15:clr>
        </p15:guide>
        <p15:guide id="4" pos="5534">
          <p15:clr>
            <a:srgbClr val="F26B43"/>
          </p15:clr>
        </p15:guide>
        <p15:guide id="5" pos="5590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orient="horz" pos="686">
          <p15:clr>
            <a:srgbClr val="F26B43"/>
          </p15:clr>
        </p15:guide>
        <p15:guide id="8" orient="horz" pos="41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ratyushakar/rossmann-store-sales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77587" y="1051413"/>
            <a:ext cx="8866413" cy="1102519"/>
          </a:xfrm>
        </p:spPr>
        <p:txBody>
          <a:bodyPr>
            <a:normAutofit/>
          </a:bodyPr>
          <a:lstStyle/>
          <a:p>
            <a:r>
              <a:rPr lang="en-IN" noProof="0" dirty="0"/>
              <a:t>Data Analysis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77587" y="3349398"/>
            <a:ext cx="8596539" cy="1314450"/>
          </a:xfrm>
        </p:spPr>
        <p:txBody>
          <a:bodyPr>
            <a:normAutofit fontScale="92500"/>
          </a:bodyPr>
          <a:lstStyle/>
          <a:p>
            <a:r>
              <a:rPr lang="en-IN" noProof="0" dirty="0"/>
              <a:t>Team: </a:t>
            </a:r>
            <a:r>
              <a:rPr lang="en-IN" b="1" noProof="0" dirty="0"/>
              <a:t>Waveform Warriors</a:t>
            </a:r>
          </a:p>
          <a:p>
            <a:r>
              <a:rPr lang="en-IN" noProof="0" dirty="0"/>
              <a:t>												Juanith Mathew Thomas</a:t>
            </a:r>
          </a:p>
          <a:p>
            <a:r>
              <a:rPr lang="en-IN" noProof="0" dirty="0"/>
              <a:t>												Kornel </a:t>
            </a:r>
            <a:r>
              <a:rPr lang="en-IN" noProof="0" dirty="0" err="1"/>
              <a:t>Lengl</a:t>
            </a:r>
            <a:endParaRPr lang="en-IN" noProof="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39A61031-218B-DE66-72A5-5E561F52B418}"/>
              </a:ext>
            </a:extLst>
          </p:cNvPr>
          <p:cNvSpPr txBox="1">
            <a:spLocks/>
          </p:cNvSpPr>
          <p:nvPr/>
        </p:nvSpPr>
        <p:spPr>
          <a:xfrm>
            <a:off x="277587" y="1136877"/>
            <a:ext cx="8596539" cy="1314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noProof="0" dirty="0"/>
              <a:t>Final assignment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8157E-E327-948D-DD86-FAD5BEA16AD9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182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sz="half" idx="2"/>
          </p:nvPr>
        </p:nvSpPr>
        <p:spPr>
          <a:xfrm>
            <a:off x="271845" y="1616700"/>
            <a:ext cx="4058856" cy="295291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1800" noProof="0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noProof="0" dirty="0"/>
              <a:t>Data preprocessing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noProof="0" dirty="0"/>
              <a:t>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dirty="0"/>
              <a:t>Probability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noProof="0" dirty="0"/>
              <a:t>Law of large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noProof="0" dirty="0"/>
              <a:t>Central limit theorem</a:t>
            </a:r>
          </a:p>
          <a:p>
            <a:pPr marL="514350" indent="-514350">
              <a:buFont typeface="+mj-lt"/>
              <a:buAutoNum type="arabicPeriod"/>
            </a:pPr>
            <a:endParaRPr lang="en-IN" sz="1800" noProof="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2538227-B69C-FF18-9FFE-E4920DC60B2E}"/>
              </a:ext>
            </a:extLst>
          </p:cNvPr>
          <p:cNvSpPr txBox="1">
            <a:spLocks/>
          </p:cNvSpPr>
          <p:nvPr/>
        </p:nvSpPr>
        <p:spPr>
          <a:xfrm>
            <a:off x="270860" y="715880"/>
            <a:ext cx="8602280" cy="5778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sz="2900" b="0">
                <a:solidFill>
                  <a:srgbClr val="000000"/>
                </a:solidFill>
                <a:ea typeface="+mn-lt"/>
                <a:cs typeface="+mn-lt"/>
              </a:rPr>
              <a:t>Table of contents</a:t>
            </a:r>
            <a:endParaRPr lang="en-IN" sz="2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7753F3-17A8-2E9C-F295-803AC49A1C61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18" name="Untertitel 2">
            <a:extLst>
              <a:ext uri="{FF2B5EF4-FFF2-40B4-BE49-F238E27FC236}">
                <a16:creationId xmlns:a16="http://schemas.microsoft.com/office/drawing/2014/main" id="{33100574-74B0-699D-7958-21D7A1C96467}"/>
              </a:ext>
            </a:extLst>
          </p:cNvPr>
          <p:cNvSpPr txBox="1">
            <a:spLocks/>
          </p:cNvSpPr>
          <p:nvPr/>
        </p:nvSpPr>
        <p:spPr>
          <a:xfrm>
            <a:off x="4572000" y="1616699"/>
            <a:ext cx="4058856" cy="2952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6000" indent="0" algn="l" defTabSz="457200" rtl="0" eaLnBrk="1" latinLnBrk="0" hangingPunct="1"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7"/>
            </a:pPr>
            <a:r>
              <a:rPr lang="en-IN" sz="1800" dirty="0"/>
              <a:t>Actual vs. Predicted sales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IN" sz="1800" dirty="0"/>
              <a:t>PCA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IN" sz="1800" dirty="0"/>
              <a:t>t-SNE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IN" sz="1800" dirty="0"/>
              <a:t>UMAP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IN" sz="1800" dirty="0"/>
              <a:t>Chi-square test</a:t>
            </a:r>
          </a:p>
          <a:p>
            <a:pPr marL="514350" indent="-514350">
              <a:buFont typeface="+mj-lt"/>
              <a:buAutoNum type="arabicPeriod" startAt="7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3476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0BC5-E0FA-CD7C-4405-C87C192EB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730B2-4DF9-1A30-87E0-FA5303F8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8602280" cy="577856"/>
          </a:xfrm>
        </p:spPr>
        <p:txBody>
          <a:bodyPr>
            <a:normAutofit fontScale="90000"/>
          </a:bodyPr>
          <a:lstStyle/>
          <a:p>
            <a:r>
              <a:rPr lang="en-IN" b="0" noProof="0" dirty="0">
                <a:solidFill>
                  <a:srgbClr val="000000"/>
                </a:solidFill>
                <a:ea typeface="+mn-lt"/>
                <a:cs typeface="+mn-lt"/>
              </a:rPr>
              <a:t>Introduction</a:t>
            </a:r>
            <a:endParaRPr lang="en-IN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C1655A-CAF5-3A86-E141-D4331129B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875" y="1549996"/>
            <a:ext cx="4112713" cy="102281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noProof="0" dirty="0">
                <a:ea typeface="+mn-lt"/>
                <a:cs typeface="+mn-lt"/>
              </a:rPr>
              <a:t>We analyzed </a:t>
            </a:r>
            <a:r>
              <a:rPr lang="en-US" sz="2000" b="1" noProof="0" dirty="0">
                <a:ea typeface="+mn-lt"/>
                <a:cs typeface="+mn-lt"/>
              </a:rPr>
              <a:t>Rossmann Store </a:t>
            </a:r>
            <a:r>
              <a:rPr lang="en-US" sz="2000" noProof="0" dirty="0">
                <a:ea typeface="+mn-lt"/>
                <a:cs typeface="+mn-lt"/>
              </a:rPr>
              <a:t>Sales found on Kaggle: </a:t>
            </a:r>
            <a:r>
              <a:rPr lang="en-US" sz="2000" noProof="0" dirty="0">
                <a:ea typeface="+mn-lt"/>
                <a:cs typeface="+mn-lt"/>
                <a:hlinkClick r:id="rId2"/>
              </a:rPr>
              <a:t>link</a:t>
            </a:r>
            <a:endParaRPr lang="en-US" sz="2000" noProof="0" dirty="0">
              <a:ea typeface="+mn-lt"/>
              <a:cs typeface="+mn-lt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590EC9-FB97-3A41-74DC-57F7BA19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3</a:t>
            </a:fld>
            <a:endParaRPr lang="en-IN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CE66A1-A422-C919-25F8-C4F01577DAE2}"/>
              </a:ext>
            </a:extLst>
          </p:cNvPr>
          <p:cNvSpPr txBox="1"/>
          <p:nvPr/>
        </p:nvSpPr>
        <p:spPr>
          <a:xfrm>
            <a:off x="4300155" y="1549996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0" dirty="0">
                <a:ea typeface="+mn-lt"/>
                <a:cs typeface="+mn-lt"/>
              </a:rPr>
              <a:t>The dataset has:</a:t>
            </a:r>
          </a:p>
          <a:p>
            <a:pPr marL="457200" indent="-457200">
              <a:buAutoNum type="arabicPeriod"/>
            </a:pPr>
            <a:r>
              <a:rPr lang="en-US" sz="1800" i="1" noProof="0" dirty="0">
                <a:ea typeface="+mn-lt"/>
                <a:cs typeface="+mn-lt"/>
              </a:rPr>
              <a:t>1115 stores</a:t>
            </a:r>
          </a:p>
          <a:p>
            <a:pPr marL="457200" indent="-457200">
              <a:buAutoNum type="arabicPeriod"/>
            </a:pPr>
            <a:r>
              <a:rPr lang="en-US" sz="1800" i="1" dirty="0">
                <a:ea typeface="+mn-lt"/>
                <a:cs typeface="+mn-lt"/>
              </a:rPr>
              <a:t>750-980 rows </a:t>
            </a:r>
            <a:r>
              <a:rPr lang="en-US" sz="1800" dirty="0">
                <a:ea typeface="+mn-lt"/>
                <a:cs typeface="+mn-lt"/>
              </a:rPr>
              <a:t>for each store.</a:t>
            </a:r>
          </a:p>
          <a:p>
            <a:pPr marL="457200" indent="-457200">
              <a:buAutoNum type="arabicPeriod"/>
            </a:pPr>
            <a:r>
              <a:rPr lang="en-US" sz="1800" noProof="0" dirty="0">
                <a:ea typeface="+mn-lt"/>
                <a:cs typeface="+mn-lt"/>
              </a:rPr>
              <a:t>Each row consists of </a:t>
            </a:r>
            <a:r>
              <a:rPr lang="en-US" sz="1800" i="1" noProof="0" dirty="0">
                <a:ea typeface="+mn-lt"/>
                <a:cs typeface="+mn-lt"/>
              </a:rPr>
              <a:t>Sales, Promotions, Customers</a:t>
            </a:r>
            <a:r>
              <a:rPr lang="en-US" sz="1800" noProof="0" dirty="0">
                <a:ea typeface="+mn-lt"/>
                <a:cs typeface="+mn-lt"/>
              </a:rPr>
              <a:t>, etc.</a:t>
            </a:r>
            <a:endParaRPr lang="en-US" sz="1400" noProof="0" dirty="0">
              <a:ea typeface="+mn-lt"/>
              <a:cs typeface="+mn-l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14D524B-A72E-6DC1-4CB8-90E80466A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44054"/>
              </p:ext>
            </p:extLst>
          </p:nvPr>
        </p:nvGraphicFramePr>
        <p:xfrm>
          <a:off x="754665" y="3237852"/>
          <a:ext cx="7632699" cy="762000"/>
        </p:xfrm>
        <a:graphic>
          <a:graphicData uri="http://schemas.openxmlformats.org/drawingml/2006/table">
            <a:tbl>
              <a:tblPr/>
              <a:tblGrid>
                <a:gridCol w="609093">
                  <a:extLst>
                    <a:ext uri="{9D8B030D-6E8A-4147-A177-3AD203B41FA5}">
                      <a16:colId xmlns:a16="http://schemas.microsoft.com/office/drawing/2014/main" val="740880409"/>
                    </a:ext>
                  </a:extLst>
                </a:gridCol>
                <a:gridCol w="942191">
                  <a:extLst>
                    <a:ext uri="{9D8B030D-6E8A-4147-A177-3AD203B41FA5}">
                      <a16:colId xmlns:a16="http://schemas.microsoft.com/office/drawing/2014/main" val="2683318585"/>
                    </a:ext>
                  </a:extLst>
                </a:gridCol>
                <a:gridCol w="989777">
                  <a:extLst>
                    <a:ext uri="{9D8B030D-6E8A-4147-A177-3AD203B41FA5}">
                      <a16:colId xmlns:a16="http://schemas.microsoft.com/office/drawing/2014/main" val="3406925052"/>
                    </a:ext>
                  </a:extLst>
                </a:gridCol>
                <a:gridCol w="609093">
                  <a:extLst>
                    <a:ext uri="{9D8B030D-6E8A-4147-A177-3AD203B41FA5}">
                      <a16:colId xmlns:a16="http://schemas.microsoft.com/office/drawing/2014/main" val="863461609"/>
                    </a:ext>
                  </a:extLst>
                </a:gridCol>
                <a:gridCol w="888261">
                  <a:extLst>
                    <a:ext uri="{9D8B030D-6E8A-4147-A177-3AD203B41FA5}">
                      <a16:colId xmlns:a16="http://schemas.microsoft.com/office/drawing/2014/main" val="2613050966"/>
                    </a:ext>
                  </a:extLst>
                </a:gridCol>
                <a:gridCol w="609093">
                  <a:extLst>
                    <a:ext uri="{9D8B030D-6E8A-4147-A177-3AD203B41FA5}">
                      <a16:colId xmlns:a16="http://schemas.microsoft.com/office/drawing/2014/main" val="3141586866"/>
                    </a:ext>
                  </a:extLst>
                </a:gridCol>
                <a:gridCol w="609093">
                  <a:extLst>
                    <a:ext uri="{9D8B030D-6E8A-4147-A177-3AD203B41FA5}">
                      <a16:colId xmlns:a16="http://schemas.microsoft.com/office/drawing/2014/main" val="1458089323"/>
                    </a:ext>
                  </a:extLst>
                </a:gridCol>
                <a:gridCol w="1167429">
                  <a:extLst>
                    <a:ext uri="{9D8B030D-6E8A-4147-A177-3AD203B41FA5}">
                      <a16:colId xmlns:a16="http://schemas.microsoft.com/office/drawing/2014/main" val="3981268279"/>
                    </a:ext>
                  </a:extLst>
                </a:gridCol>
                <a:gridCol w="1208669">
                  <a:extLst>
                    <a:ext uri="{9D8B030D-6E8A-4147-A177-3AD203B41FA5}">
                      <a16:colId xmlns:a16="http://schemas.microsoft.com/office/drawing/2014/main" val="80853567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Store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DayOfWeek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Customers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StateHoliday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SchoolHoliday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8347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31/07/2015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698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31/07/2015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7754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31/07/2015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76992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B099118-1E26-E5A6-5408-393F1D85F23B}"/>
              </a:ext>
            </a:extLst>
          </p:cNvPr>
          <p:cNvSpPr txBox="1"/>
          <p:nvPr/>
        </p:nvSpPr>
        <p:spPr>
          <a:xfrm>
            <a:off x="269875" y="4210381"/>
            <a:ext cx="453885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Dataset shape: 1,017,209 x 9</a:t>
            </a:r>
            <a:endParaRPr lang="en-IN"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650B24-D36A-EFD1-0EFB-AF028DC3F25E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0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03A5CC-8D32-417A-8C2A-ED9DE890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4</a:t>
            </a:fld>
            <a:endParaRPr lang="en-IN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201F917-E73A-70EA-B82A-CF8322D67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8602280" cy="577856"/>
          </a:xfrm>
        </p:spPr>
        <p:txBody>
          <a:bodyPr>
            <a:normAutofit fontScale="90000"/>
          </a:bodyPr>
          <a:lstStyle/>
          <a:p>
            <a:r>
              <a:rPr lang="en-IN" b="0" noProof="0" dirty="0">
                <a:solidFill>
                  <a:srgbClr val="000000"/>
                </a:solidFill>
                <a:ea typeface="+mn-lt"/>
                <a:cs typeface="+mn-lt"/>
              </a:rPr>
              <a:t>Data preprocessing</a:t>
            </a:r>
            <a:endParaRPr lang="en-IN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9BCF6D-9686-7192-3724-4215F0535B86}"/>
              </a:ext>
            </a:extLst>
          </p:cNvPr>
          <p:cNvSpPr txBox="1"/>
          <p:nvPr/>
        </p:nvSpPr>
        <p:spPr>
          <a:xfrm>
            <a:off x="269875" y="4210381"/>
            <a:ext cx="453885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Dataset shape: 337,924  x 10</a:t>
            </a:r>
            <a:endParaRPr lang="en-IN" sz="140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57B24AA4-F30B-A2D8-25C4-258B6D22A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874" y="1549996"/>
            <a:ext cx="7064919" cy="241458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Extracted: 406,974 rows</a:t>
            </a:r>
          </a:p>
          <a:p>
            <a:pPr marL="342900" indent="-342900">
              <a:buAutoNum type="arabicPeriod"/>
            </a:pPr>
            <a:r>
              <a:rPr lang="en-IN" sz="2000" dirty="0"/>
              <a:t>Null values: 0 cells</a:t>
            </a:r>
          </a:p>
          <a:p>
            <a:pPr marL="342900" indent="-342900">
              <a:buAutoNum type="arabicPeriod"/>
            </a:pPr>
            <a:r>
              <a:rPr lang="en-IN" sz="2000" dirty="0"/>
              <a:t>Duplicates: 0 rows</a:t>
            </a:r>
          </a:p>
          <a:p>
            <a:pPr marL="342900" indent="-342900">
              <a:buAutoNum type="arabicPeriod"/>
            </a:pPr>
            <a:r>
              <a:rPr lang="en-IN" sz="2000" dirty="0"/>
              <a:t>No sale days: 69,050 (removed)</a:t>
            </a:r>
          </a:p>
          <a:p>
            <a:pPr marL="342900" indent="-342900">
              <a:buAutoNum type="arabicPeriod"/>
            </a:pPr>
            <a:r>
              <a:rPr lang="en-IN" sz="2000" dirty="0"/>
              <a:t>Outliers: 11,167 (not removed)</a:t>
            </a:r>
          </a:p>
          <a:p>
            <a:pPr marL="342900" indent="-342900">
              <a:buAutoNum type="arabicPeriod"/>
            </a:pPr>
            <a:r>
              <a:rPr lang="en-IN" sz="2000" dirty="0"/>
              <a:t>Features engineered: “</a:t>
            </a:r>
            <a:r>
              <a:rPr lang="en-IN" sz="2000" dirty="0" err="1"/>
              <a:t>IsWeekend</a:t>
            </a:r>
            <a:r>
              <a:rPr lang="en-IN" sz="2000" dirty="0"/>
              <a:t>”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B2F8A0-372B-49E1-DFDB-B024A9732A16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953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0A2B1-AE83-9DE7-605B-E2C9AEDB2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2E915F-721B-F768-961F-D9ACFD1E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5</a:t>
            </a:fld>
            <a:endParaRPr lang="en-IN" noProof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45FF01D-D5EC-1466-63CB-B8B250EBB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8602280" cy="577856"/>
          </a:xfrm>
        </p:spPr>
        <p:txBody>
          <a:bodyPr>
            <a:normAutofit fontScale="90000"/>
          </a:bodyPr>
          <a:lstStyle/>
          <a:p>
            <a:r>
              <a:rPr lang="en-IN" b="0">
                <a:solidFill>
                  <a:srgbClr val="000000"/>
                </a:solidFill>
                <a:ea typeface="+mn-lt"/>
                <a:cs typeface="+mn-lt"/>
              </a:rPr>
              <a:t>Outliers</a:t>
            </a: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3AB26A-8390-F445-1E11-581E814751FC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Electronic Engineering</a:t>
            </a:r>
            <a:endParaRPr lang="en-IN"/>
          </a:p>
        </p:txBody>
      </p:sp>
      <p:pic>
        <p:nvPicPr>
          <p:cNvPr id="2" name="Picture 1" descr="A graph with a red line&#10;&#10;AI-generated content may be incorrect.">
            <a:extLst>
              <a:ext uri="{FF2B5EF4-FFF2-40B4-BE49-F238E27FC236}">
                <a16:creationId xmlns:a16="http://schemas.microsoft.com/office/drawing/2014/main" id="{E5174094-B2D3-99FD-ECD0-F9DAB141A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576" y="1287193"/>
            <a:ext cx="6716847" cy="347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4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BEC380-BF25-8C64-61F1-CA897E2C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6</a:t>
            </a:fld>
            <a:endParaRPr lang="en-IN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5323B-3F33-3965-C6CF-7B64F71158CF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FFD3C91C-2589-17C8-CB83-32B813C79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35" y="890012"/>
            <a:ext cx="8283308" cy="414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0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6FBA1-0108-12D0-1607-251340DC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385024-BD90-DE76-5C12-DA6CAAED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7</a:t>
            </a:fld>
            <a:endParaRPr lang="en-IN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D3A455-FA6B-0E47-141A-E5ED493D8214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Electronic Engineering</a:t>
            </a:r>
            <a:endParaRPr lang="en-IN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46CC049-82B0-F4A6-81FC-F0FD2E778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909" y="683235"/>
            <a:ext cx="5620181" cy="435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1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8FE6DB-CD7E-1E59-DDD2-E1D362F3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B83620-36C4-295D-8BFE-E42BEB8E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8</a:t>
            </a:fld>
            <a:endParaRPr lang="en-IN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97FE1-681C-4629-41CB-87980F1897CB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4549F1-C941-ED00-7F47-E5FECFBE4231}"/>
              </a:ext>
            </a:extLst>
          </p:cNvPr>
          <p:cNvSpPr txBox="1"/>
          <p:nvPr/>
        </p:nvSpPr>
        <p:spPr>
          <a:xfrm>
            <a:off x="1020985" y="1929674"/>
            <a:ext cx="3547589" cy="5200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IN" sz="1400" b="0" i="0">
                <a:effectLst/>
                <a:latin typeface="Consolas"/>
              </a:rPr>
              <a:t>P(</a:t>
            </a:r>
            <a:r>
              <a:rPr lang="en-IN" sz="1400" b="0" i="0" err="1">
                <a:effectLst/>
                <a:latin typeface="Consolas"/>
              </a:rPr>
              <a:t>HighSales</a:t>
            </a:r>
            <a:r>
              <a:rPr lang="en-IN" sz="1400" b="0" i="0">
                <a:effectLst/>
                <a:latin typeface="Consolas"/>
              </a:rPr>
              <a:t> | Promo=1): 18.03 % </a:t>
            </a:r>
          </a:p>
          <a:p>
            <a:pPr algn="l">
              <a:lnSpc>
                <a:spcPts val="1650"/>
              </a:lnSpc>
              <a:buNone/>
            </a:pPr>
            <a:r>
              <a:rPr lang="en-IN" sz="1400" b="0" i="0">
                <a:effectLst/>
                <a:latin typeface="Consolas"/>
              </a:rPr>
              <a:t>P(</a:t>
            </a:r>
            <a:r>
              <a:rPr lang="en-IN" sz="1400" b="0" i="0" err="1">
                <a:effectLst/>
                <a:latin typeface="Consolas"/>
              </a:rPr>
              <a:t>HighSales</a:t>
            </a:r>
            <a:r>
              <a:rPr lang="en-IN" sz="1400" b="0" i="0">
                <a:effectLst/>
                <a:latin typeface="Consolas"/>
              </a:rPr>
              <a:t> | Promo=0): 3.87 % </a:t>
            </a:r>
            <a:endParaRPr lang="en-IN" sz="1400">
              <a:latin typeface="Consolas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396678-B4DB-0F3C-CE30-8010B4C0B7EC}"/>
              </a:ext>
            </a:extLst>
          </p:cNvPr>
          <p:cNvSpPr txBox="1"/>
          <p:nvPr/>
        </p:nvSpPr>
        <p:spPr>
          <a:xfrm>
            <a:off x="1020985" y="2687459"/>
            <a:ext cx="333362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400" b="0" i="0">
                <a:effectLst/>
                <a:latin typeface="Consolas"/>
              </a:rPr>
              <a:t>P(</a:t>
            </a:r>
            <a:r>
              <a:rPr lang="en-IN" sz="1400" b="0" i="0" err="1">
                <a:effectLst/>
                <a:latin typeface="Consolas"/>
              </a:rPr>
              <a:t>LowSales</a:t>
            </a:r>
            <a:r>
              <a:rPr lang="en-IN" sz="1400" b="0" i="0">
                <a:effectLst/>
                <a:latin typeface="Consolas"/>
              </a:rPr>
              <a:t> | Promo=1): 0.82 % </a:t>
            </a:r>
          </a:p>
          <a:p>
            <a:r>
              <a:rPr lang="en-IN" sz="1400" b="0" i="0">
                <a:effectLst/>
                <a:latin typeface="Consolas"/>
              </a:rPr>
              <a:t>P(</a:t>
            </a:r>
            <a:r>
              <a:rPr lang="en-IN" sz="1400" b="0" i="0" err="1">
                <a:effectLst/>
                <a:latin typeface="Consolas"/>
              </a:rPr>
              <a:t>LowSales</a:t>
            </a:r>
            <a:r>
              <a:rPr lang="en-IN" sz="1400" b="0" i="0">
                <a:effectLst/>
                <a:latin typeface="Consolas"/>
              </a:rPr>
              <a:t> | Promo=0): 17.42 %</a:t>
            </a:r>
            <a:endParaRPr lang="en-IN" sz="1400">
              <a:latin typeface="Consolas"/>
              <a:ea typeface="Calibri"/>
              <a:cs typeface="Calibri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E73011A-4705-7E67-E1EF-A07FB2E87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39219"/>
              </p:ext>
            </p:extLst>
          </p:nvPr>
        </p:nvGraphicFramePr>
        <p:xfrm>
          <a:off x="5270867" y="1941931"/>
          <a:ext cx="2264319" cy="1036320"/>
        </p:xfrm>
        <a:graphic>
          <a:graphicData uri="http://schemas.openxmlformats.org/drawingml/2006/table">
            <a:tbl>
              <a:tblPr/>
              <a:tblGrid>
                <a:gridCol w="964565">
                  <a:extLst>
                    <a:ext uri="{9D8B030D-6E8A-4147-A177-3AD203B41FA5}">
                      <a16:colId xmlns:a16="http://schemas.microsoft.com/office/drawing/2014/main" val="560548991"/>
                    </a:ext>
                  </a:extLst>
                </a:gridCol>
                <a:gridCol w="633549">
                  <a:extLst>
                    <a:ext uri="{9D8B030D-6E8A-4147-A177-3AD203B41FA5}">
                      <a16:colId xmlns:a16="http://schemas.microsoft.com/office/drawing/2014/main" val="3732563124"/>
                    </a:ext>
                  </a:extLst>
                </a:gridCol>
                <a:gridCol w="666205">
                  <a:extLst>
                    <a:ext uri="{9D8B030D-6E8A-4147-A177-3AD203B41FA5}">
                      <a16:colId xmlns:a16="http://schemas.microsoft.com/office/drawing/2014/main" val="1063381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 err="1">
                          <a:solidFill>
                            <a:srgbClr val="FF0000"/>
                          </a:solidFill>
                          <a:effectLst/>
                        </a:rPr>
                        <a:t>IsWeekend</a:t>
                      </a:r>
                      <a:endParaRPr lang="en-IN" sz="12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083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00B050"/>
                          </a:solidFill>
                          <a:effectLst/>
                        </a:rPr>
                        <a:t>Promo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200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772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 dirty="0"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54.97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45.03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230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 dirty="0"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80.45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19.55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30957"/>
                  </a:ext>
                </a:extLst>
              </a:tr>
            </a:tbl>
          </a:graphicData>
        </a:graphic>
      </p:graphicFrame>
      <p:sp>
        <p:nvSpPr>
          <p:cNvPr id="13" name="Título 1">
            <a:extLst>
              <a:ext uri="{FF2B5EF4-FFF2-40B4-BE49-F238E27FC236}">
                <a16:creationId xmlns:a16="http://schemas.microsoft.com/office/drawing/2014/main" id="{563DED40-DE47-BDC7-9F1E-7150BC752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8602280" cy="577856"/>
          </a:xfrm>
        </p:spPr>
        <p:txBody>
          <a:bodyPr>
            <a:normAutofit fontScale="90000"/>
          </a:bodyPr>
          <a:lstStyle/>
          <a:p>
            <a:r>
              <a:rPr lang="en-US" b="0" dirty="0">
                <a:solidFill>
                  <a:srgbClr val="000000"/>
                </a:solidFill>
                <a:ea typeface="+mn-lt"/>
                <a:cs typeface="+mn-lt"/>
              </a:rPr>
              <a:t>P</a:t>
            </a:r>
            <a:r>
              <a:rPr lang="en-IN" b="0" dirty="0">
                <a:solidFill>
                  <a:srgbClr val="000000"/>
                </a:solidFill>
                <a:ea typeface="+mn-lt"/>
                <a:cs typeface="+mn-lt"/>
              </a:rPr>
              <a:t>robability analysis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48254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C6AD-DD57-0842-4695-2751B6054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A9E274-5947-BB89-52DA-5621D2A93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9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634248-9CED-EBE8-933C-8D4BE3DAC7B2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B6220BE-DA63-29C0-9817-9D0C5F0E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2235930" cy="995174"/>
          </a:xfrm>
        </p:spPr>
        <p:txBody>
          <a:bodyPr>
            <a:norm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Law of Large </a:t>
            </a:r>
            <a:b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Numbers</a:t>
            </a:r>
            <a:endParaRPr lang="en-IN" sz="2900" noProof="0" dirty="0"/>
          </a:p>
        </p:txBody>
      </p:sp>
      <p:pic>
        <p:nvPicPr>
          <p:cNvPr id="3" name="Picture 2" descr="A graph showing a line&#10;&#10;AI-generated content may be incorrect.">
            <a:extLst>
              <a:ext uri="{FF2B5EF4-FFF2-40B4-BE49-F238E27FC236}">
                <a16:creationId xmlns:a16="http://schemas.microsoft.com/office/drawing/2014/main" id="{5436ADD4-6C0C-7EDD-7B07-29A74D747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529" y="895121"/>
            <a:ext cx="6180882" cy="41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67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5D39-9CDE-9BC7-BF7E-7962628CA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A7A928-0B9B-393C-7359-CD3C46BD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10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4DA7E2-4265-B731-F9B8-0A90CD724304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48B4CDC-0CDA-6196-7522-685A0560C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709530"/>
            <a:ext cx="2303508" cy="995174"/>
          </a:xfrm>
        </p:spPr>
        <p:txBody>
          <a:bodyPr>
            <a:norm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Central Limit</a:t>
            </a:r>
            <a:b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Theorem</a:t>
            </a:r>
            <a:endParaRPr lang="en-IN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67436-5BC5-3C23-C79B-F6248A671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514"/>
          <a:stretch>
            <a:fillRect/>
          </a:stretch>
        </p:blipFill>
        <p:spPr>
          <a:xfrm>
            <a:off x="2411404" y="1001812"/>
            <a:ext cx="3257876" cy="3139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4E05DC-1E0C-48DF-AE4D-7B1388195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566" y="1001812"/>
            <a:ext cx="3230741" cy="313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49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24E6-0D18-9B43-DC01-8BD714C6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8D0AE4-0673-9913-43DA-F25E24F3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11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5104C4-7BEC-4D60-BEB8-CA3E703AFEA5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01C45F4-4BA0-B957-386D-128A27E6D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3831863" cy="995174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Actual vs. Predicted sales</a:t>
            </a:r>
            <a:endParaRPr lang="en-IN" sz="29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552586-B1EC-5ED4-6A24-C030ADBB4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296" y="709530"/>
            <a:ext cx="3964577" cy="39645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7BC429-FB2A-B706-EC54-D6D9E115D541}"/>
              </a:ext>
            </a:extLst>
          </p:cNvPr>
          <p:cNvSpPr txBox="1"/>
          <p:nvPr/>
        </p:nvSpPr>
        <p:spPr>
          <a:xfrm>
            <a:off x="269874" y="1704704"/>
            <a:ext cx="3831863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Mean sales: 6814.95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Root mean square error (polynomial-2 linear regression): 1497.67 (21.97%)</a:t>
            </a: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Inaccuracy is likely due to: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1. Calendar patterns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2. Sufficiency problems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3. Varying promotions</a:t>
            </a: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R²: 0.77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MAE: 1076.48</a:t>
            </a:r>
          </a:p>
          <a:p>
            <a:endParaRPr lang="en-US" sz="12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Reference notebooks were searched and algorithms such as Random Forest, </a:t>
            </a:r>
            <a:r>
              <a:rPr lang="en-US" sz="11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XGBoost</a:t>
            </a: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show accuracy reaching ~90% instead of ~83% here.</a:t>
            </a:r>
          </a:p>
        </p:txBody>
      </p:sp>
    </p:spTree>
    <p:extLst>
      <p:ext uri="{BB962C8B-B14F-4D97-AF65-F5344CB8AC3E}">
        <p14:creationId xmlns:p14="http://schemas.microsoft.com/office/powerpoint/2010/main" val="879871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9555C-92FA-92F2-A740-E52341FC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8223E1-A4CE-E4AE-BBED-67D06EA3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12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4C3A0F-E9FD-7133-E9E4-E33DA11631ED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3A4DF8F-54C6-3AF8-2388-1C6FE4C3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2943589" cy="640080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PCA</a:t>
            </a:r>
            <a:endParaRPr lang="en-IN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91599-AEAC-DF0A-33F3-ABDF30EC16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49"/>
          <a:stretch>
            <a:fillRect/>
          </a:stretch>
        </p:blipFill>
        <p:spPr>
          <a:xfrm>
            <a:off x="1870074" y="1205573"/>
            <a:ext cx="3212878" cy="28718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435F6E-4794-EC60-95A3-42CC339131DB}"/>
              </a:ext>
            </a:extLst>
          </p:cNvPr>
          <p:cNvSpPr txBox="1"/>
          <p:nvPr/>
        </p:nvSpPr>
        <p:spPr>
          <a:xfrm>
            <a:off x="269874" y="1704704"/>
            <a:ext cx="164383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Explained variance 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ratio:</a:t>
            </a: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PC1: 20.618%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PC2: 19.853%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PC3: 10.908%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371E11-4E67-7FC6-D442-E01827090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602" y="1207706"/>
            <a:ext cx="3696553" cy="286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60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1787-6B8C-29ED-8916-FB6977454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9FFC38-94C7-0F52-86DA-9006C979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13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352963-7DC4-00FE-0E83-FB7672928BD8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AF8325C-7C6C-B19B-F396-83B96FC0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2943589" cy="640080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PCA</a:t>
            </a:r>
            <a:endParaRPr lang="en-IN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FF6DC-8FB4-38D7-9FE9-4D91C8E953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37045" y="1189097"/>
            <a:ext cx="5026986" cy="3118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31E147-2791-873A-176A-11CA3C72B1B6}"/>
              </a:ext>
            </a:extLst>
          </p:cNvPr>
          <p:cNvSpPr txBox="1"/>
          <p:nvPr/>
        </p:nvSpPr>
        <p:spPr>
          <a:xfrm>
            <a:off x="269875" y="1704704"/>
            <a:ext cx="304809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Cumulative variance:</a:t>
            </a: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k=2: 40.47%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k=3: 51.38%</a:t>
            </a:r>
          </a:p>
          <a:p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k for 80%: 6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k for 90%: 7</a:t>
            </a:r>
          </a:p>
        </p:txBody>
      </p:sp>
    </p:spTree>
    <p:extLst>
      <p:ext uri="{BB962C8B-B14F-4D97-AF65-F5344CB8AC3E}">
        <p14:creationId xmlns:p14="http://schemas.microsoft.com/office/powerpoint/2010/main" val="1566433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D8E77-1CC8-B5CA-6039-7DEB55EE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0CFE2-6DF3-572D-2D2C-01675C1D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14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76F86E-97F0-D4FC-0642-70F0D12293E7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F33CC8B-9EEF-7F3B-E07A-B8902C3E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2943589" cy="640080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t-SNE</a:t>
            </a:r>
            <a:endParaRPr lang="en-IN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42C42-AD9A-0257-6644-0BDEE6FB5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01490" y="709530"/>
            <a:ext cx="3938558" cy="39722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1E5E51-5233-5911-E3C3-2BD4707C6906}"/>
              </a:ext>
            </a:extLst>
          </p:cNvPr>
          <p:cNvSpPr txBox="1"/>
          <p:nvPr/>
        </p:nvSpPr>
        <p:spPr>
          <a:xfrm>
            <a:off x="269875" y="1704704"/>
            <a:ext cx="30480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 Since we see that Promo regions are different from non-promo regions, there's a fundamental difference between the two.</a:t>
            </a:r>
          </a:p>
        </p:txBody>
      </p:sp>
    </p:spTree>
    <p:extLst>
      <p:ext uri="{BB962C8B-B14F-4D97-AF65-F5344CB8AC3E}">
        <p14:creationId xmlns:p14="http://schemas.microsoft.com/office/powerpoint/2010/main" val="1629104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B1D73-6B22-4A14-98A9-934FB529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C7E10C-9515-CC65-4ACA-A66442CF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15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CF52B4-D98A-5106-C576-AC78BF012FCF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5116E22-4C0E-0F37-6FCB-6AA1933E8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2943589" cy="640080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UMAP</a:t>
            </a:r>
            <a:endParaRPr lang="en-IN" sz="29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F8AB5-7820-48EE-7333-11F16265C7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04856" y="709530"/>
            <a:ext cx="3931825" cy="39722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AE776B-D06F-7031-7403-80283D9D05C5}"/>
              </a:ext>
            </a:extLst>
          </p:cNvPr>
          <p:cNvSpPr txBox="1"/>
          <p:nvPr/>
        </p:nvSpPr>
        <p:spPr>
          <a:xfrm>
            <a:off x="269875" y="1704704"/>
            <a:ext cx="30480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- We observe the local neighborhoods being preserved.</a:t>
            </a:r>
          </a:p>
        </p:txBody>
      </p:sp>
    </p:spTree>
    <p:extLst>
      <p:ext uri="{BB962C8B-B14F-4D97-AF65-F5344CB8AC3E}">
        <p14:creationId xmlns:p14="http://schemas.microsoft.com/office/powerpoint/2010/main" val="2062898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6106-C7FE-4FD5-09CE-E77B1C49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C74D5A-3D47-1D24-F880-71F7E593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16</a:t>
            </a:fld>
            <a:endParaRPr lang="en-IN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EBE396-E23A-D9F9-C72D-24D6BB91C95A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75C8803-F0F3-95DC-4F75-C6E71D2A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4" y="709530"/>
            <a:ext cx="2943589" cy="640080"/>
          </a:xfrm>
        </p:spPr>
        <p:txBody>
          <a:bodyPr>
            <a:noAutofit/>
          </a:bodyPr>
          <a:lstStyle/>
          <a:p>
            <a:r>
              <a:rPr lang="en-US" sz="2900" b="0" dirty="0">
                <a:solidFill>
                  <a:srgbClr val="000000"/>
                </a:solidFill>
                <a:ea typeface="+mn-lt"/>
                <a:cs typeface="+mn-lt"/>
              </a:rPr>
              <a:t>Chi-square test</a:t>
            </a:r>
            <a:endParaRPr lang="en-IN" sz="2900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C1DCEE-0AB6-3280-3B42-20D3B21FC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832890"/>
              </p:ext>
            </p:extLst>
          </p:nvPr>
        </p:nvGraphicFramePr>
        <p:xfrm>
          <a:off x="5270867" y="1941931"/>
          <a:ext cx="2264319" cy="1036320"/>
        </p:xfrm>
        <a:graphic>
          <a:graphicData uri="http://schemas.openxmlformats.org/drawingml/2006/table">
            <a:tbl>
              <a:tblPr/>
              <a:tblGrid>
                <a:gridCol w="964565">
                  <a:extLst>
                    <a:ext uri="{9D8B030D-6E8A-4147-A177-3AD203B41FA5}">
                      <a16:colId xmlns:a16="http://schemas.microsoft.com/office/drawing/2014/main" val="560548991"/>
                    </a:ext>
                  </a:extLst>
                </a:gridCol>
                <a:gridCol w="633549">
                  <a:extLst>
                    <a:ext uri="{9D8B030D-6E8A-4147-A177-3AD203B41FA5}">
                      <a16:colId xmlns:a16="http://schemas.microsoft.com/office/drawing/2014/main" val="3732563124"/>
                    </a:ext>
                  </a:extLst>
                </a:gridCol>
                <a:gridCol w="666205">
                  <a:extLst>
                    <a:ext uri="{9D8B030D-6E8A-4147-A177-3AD203B41FA5}">
                      <a16:colId xmlns:a16="http://schemas.microsoft.com/office/drawing/2014/main" val="1063381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 err="1">
                          <a:solidFill>
                            <a:srgbClr val="FF0000"/>
                          </a:solidFill>
                          <a:effectLst/>
                        </a:rPr>
                        <a:t>IsWeekend</a:t>
                      </a:r>
                      <a:endParaRPr lang="en-IN" sz="12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083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dirty="0">
                          <a:solidFill>
                            <a:srgbClr val="00B050"/>
                          </a:solidFill>
                          <a:effectLst/>
                        </a:rPr>
                        <a:t>Promo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200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772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 dirty="0"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104492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86444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230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0" dirty="0"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118060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28928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3095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622599E-9E6C-1DC5-4BE6-76102DAF5BFD}"/>
              </a:ext>
            </a:extLst>
          </p:cNvPr>
          <p:cNvSpPr txBox="1"/>
          <p:nvPr/>
        </p:nvSpPr>
        <p:spPr>
          <a:xfrm>
            <a:off x="612408" y="1689035"/>
            <a:ext cx="3324592" cy="263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Null Hypothesis: The events “</a:t>
            </a:r>
            <a:r>
              <a:rPr lang="en-IN" sz="11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IsWeekend</a:t>
            </a: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” and “Promo” are independent.</a:t>
            </a:r>
          </a:p>
          <a:p>
            <a:pPr algn="l">
              <a:lnSpc>
                <a:spcPts val="1650"/>
              </a:lnSpc>
              <a:buNone/>
            </a:pPr>
            <a:endParaRPr lang="en-IN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650"/>
              </a:lnSpc>
              <a:buNone/>
            </a:pP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Results for the test:</a:t>
            </a:r>
          </a:p>
          <a:p>
            <a:pPr algn="l">
              <a:lnSpc>
                <a:spcPts val="1650"/>
              </a:lnSpc>
              <a:buNone/>
            </a:pP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IN" sz="11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hi2=24192.940</a:t>
            </a:r>
            <a:endParaRPr lang="en-IN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algn="l">
              <a:lnSpc>
                <a:spcPts val="1650"/>
              </a:lnSpc>
              <a:buNone/>
            </a:pPr>
            <a:r>
              <a:rPr lang="en-IN" sz="11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dof</a:t>
            </a:r>
            <a:r>
              <a:rPr lang="en-IN" sz="11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=1</a:t>
            </a:r>
          </a:p>
          <a:p>
            <a:pPr algn="l">
              <a:lnSpc>
                <a:spcPts val="1650"/>
              </a:lnSpc>
              <a:buNone/>
            </a:pPr>
            <a:r>
              <a:rPr lang="en-IN" sz="11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p-value=0 </a:t>
            </a:r>
          </a:p>
          <a:p>
            <a:pPr>
              <a:buNone/>
            </a:pPr>
            <a:endParaRPr lang="en-IN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Hypothesis rejected, explanation:</a:t>
            </a:r>
            <a:endParaRPr lang="en-US" sz="11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Chances of Promo happening on a weekend: 20%.</a:t>
            </a:r>
          </a:p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Chances of Promo happening on a weekday: 45%.</a:t>
            </a:r>
          </a:p>
        </p:txBody>
      </p:sp>
    </p:spTree>
    <p:extLst>
      <p:ext uri="{BB962C8B-B14F-4D97-AF65-F5344CB8AC3E}">
        <p14:creationId xmlns:p14="http://schemas.microsoft.com/office/powerpoint/2010/main" val="972849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2841D-DEAB-F6E3-D9BB-347809E9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Questions?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FD6F-7166-8ADB-2711-55FC1ADA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en-IN" noProof="0" smtClean="0"/>
              <a:pPr/>
              <a:t>17</a:t>
            </a:fld>
            <a:endParaRPr lang="en-IN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534D77-04B6-6F9B-CCCB-D3DCC4712A21}"/>
              </a:ext>
            </a:extLst>
          </p:cNvPr>
          <p:cNvSpPr/>
          <p:nvPr/>
        </p:nvSpPr>
        <p:spPr>
          <a:xfrm>
            <a:off x="269874" y="156754"/>
            <a:ext cx="3964577" cy="6400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Electronic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252373"/>
      </p:ext>
    </p:extLst>
  </p:cSld>
  <p:clrMapOvr>
    <a:masterClrMapping/>
  </p:clrMapOvr>
</p:sld>
</file>

<file path=ppt/theme/theme1.xml><?xml version="1.0" encoding="utf-8"?>
<a:theme xmlns:a="http://schemas.openxmlformats.org/drawingml/2006/main" name="PPT_Vorlage_Engineering_türkis">
  <a:themeElements>
    <a:clrScheme name="FH türk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0B0CA"/>
      </a:accent1>
      <a:accent2>
        <a:srgbClr val="056781"/>
      </a:accent2>
      <a:accent3>
        <a:srgbClr val="22FFFE"/>
      </a:accent3>
      <a:accent4>
        <a:srgbClr val="BBBBBB"/>
      </a:accent4>
      <a:accent5>
        <a:srgbClr val="888888"/>
      </a:accent5>
      <a:accent6>
        <a:srgbClr val="444444"/>
      </a:accent6>
      <a:hlink>
        <a:srgbClr val="0000FF"/>
      </a:hlink>
      <a:folHlink>
        <a:srgbClr val="800080"/>
      </a:folHlink>
    </a:clrScheme>
    <a:fontScheme name="FH Joanneum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CE 16.9.potx" id="{4BD5A669-AD90-4F44-AE52-AAFD8A160261}" vid="{0CDBE95F-7691-409F-AC69-099C0587BE0B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7fda8c1-7b7d-4ef3-94f6-1b5b56b1be9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2ACDE74A2A2C148AF37D6C55BF06341" ma:contentTypeVersion="9" ma:contentTypeDescription="Ein neues Dokument erstellen." ma:contentTypeScope="" ma:versionID="f123b95d3be20b1740652f236d486588">
  <xsd:schema xmlns:xsd="http://www.w3.org/2001/XMLSchema" xmlns:xs="http://www.w3.org/2001/XMLSchema" xmlns:p="http://schemas.microsoft.com/office/2006/metadata/properties" xmlns:ns3="17fda8c1-7b7d-4ef3-94f6-1b5b56b1be93" targetNamespace="http://schemas.microsoft.com/office/2006/metadata/properties" ma:root="true" ma:fieldsID="3587dbe939ec4debce37c53b11c43107" ns3:_="">
    <xsd:import namespace="17fda8c1-7b7d-4ef3-94f6-1b5b56b1be9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da8c1-7b7d-4ef3-94f6-1b5b56b1be9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157B82-0CB4-4D50-AE10-71E289FD6DFB}">
  <ds:schemaRefs>
    <ds:schemaRef ds:uri="17fda8c1-7b7d-4ef3-94f6-1b5b56b1be93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791833B-1B8B-4982-BD48-03625D3CDF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da8c1-7b7d-4ef3-94f6-1b5b56b1be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56F216-D30B-42F9-92C8-488AA332923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DCD_Multimeter_GroupA</Template>
  <TotalTime>746</TotalTime>
  <Words>707</Words>
  <Application>Microsoft Office PowerPoint</Application>
  <PresentationFormat>On-screen Show (16:9)</PresentationFormat>
  <Paragraphs>190</Paragraphs>
  <Slides>17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 Narrow</vt:lpstr>
      <vt:lpstr>Arial</vt:lpstr>
      <vt:lpstr>Calibri</vt:lpstr>
      <vt:lpstr>Consolas</vt:lpstr>
      <vt:lpstr>PPT_Vorlage_Engineering_türkis</vt:lpstr>
      <vt:lpstr>Data Analysis</vt:lpstr>
      <vt:lpstr>PowerPoint Presentation</vt:lpstr>
      <vt:lpstr>Introduction</vt:lpstr>
      <vt:lpstr>Data preprocessing</vt:lpstr>
      <vt:lpstr>Outliers</vt:lpstr>
      <vt:lpstr>PowerPoint Presentation</vt:lpstr>
      <vt:lpstr>PowerPoint Presentation</vt:lpstr>
      <vt:lpstr>Probability analysis</vt:lpstr>
      <vt:lpstr>Law of Large  Numbers</vt:lpstr>
      <vt:lpstr>Central Limit Theorem</vt:lpstr>
      <vt:lpstr>Actual vs. Predicted sales</vt:lpstr>
      <vt:lpstr>PCA</vt:lpstr>
      <vt:lpstr>PCA</vt:lpstr>
      <vt:lpstr>t-SNE</vt:lpstr>
      <vt:lpstr>UMAP</vt:lpstr>
      <vt:lpstr>Chi-square test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.. Juanith</dc:creator>
  <cp:lastModifiedBy>.. Juanith</cp:lastModifiedBy>
  <cp:revision>3</cp:revision>
  <dcterms:created xsi:type="dcterms:W3CDTF">2026-01-26T22:28:00Z</dcterms:created>
  <dcterms:modified xsi:type="dcterms:W3CDTF">2026-01-29T01:10:20Z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0x010100C2ACDE74A2A2C148AF37D6C55BF06341</vt:lpwstr>
  </property>
</Properties>
</file>