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4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96" r:id="rId7"/>
    <p:sldId id="287" r:id="rId8"/>
    <p:sldId id="300" r:id="rId9"/>
    <p:sldId id="297" r:id="rId10"/>
    <p:sldId id="288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285" r:id="rId19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C8012D-A048-4010-A6DE-CEE7025A8D7D}">
          <p14:sldIdLst>
            <p14:sldId id="256"/>
            <p14:sldId id="257"/>
            <p14:sldId id="296"/>
            <p14:sldId id="287"/>
            <p14:sldId id="300"/>
            <p14:sldId id="297"/>
            <p14:sldId id="288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Results" id="{516AF93F-2201-4417-B0D2-CE8D2CDFF73D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0FA"/>
    <a:srgbClr val="F7A1FC"/>
    <a:srgbClr val="FF8DFC"/>
    <a:srgbClr val="FFA9FA"/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93086-D76F-4EEB-9777-5019F5DE21A3}" v="117" dt="2026-01-27T00:05:35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456" y="-12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26.01.2026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</a:t>
            </a:r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957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</a:t>
            </a:r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0778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 has 4 connections: MISO, MOSI, CLK, CS</a:t>
            </a:r>
          </a:p>
          <a:p>
            <a:br>
              <a:rPr lang="en-US" dirty="0"/>
            </a:br>
            <a:r>
              <a:rPr lang="en-US" dirty="0"/>
              <a:t>Module had to provide a CLK (Mode 0), assert the CS (active low), read the serial data on the MISO and forward it in parallel</a:t>
            </a:r>
          </a:p>
          <a:p>
            <a:br>
              <a:rPr lang="en-US" dirty="0"/>
            </a:br>
            <a:r>
              <a:rPr lang="en-US" dirty="0"/>
              <a:t>CLK divided to 10MHz which is the max value for the SPI CLK according to the datasheet of the ADC</a:t>
            </a:r>
          </a:p>
          <a:p>
            <a:br>
              <a:rPr lang="en-US" dirty="0"/>
            </a:br>
            <a:r>
              <a:rPr lang="en-US" dirty="0"/>
              <a:t>Implement a counter for timing</a:t>
            </a:r>
          </a:p>
          <a:p>
            <a:r>
              <a:rPr lang="en-US" dirty="0"/>
              <a:t>- counts from 0 to 17 and resets</a:t>
            </a:r>
            <a:br>
              <a:rPr lang="en-US" dirty="0"/>
            </a:br>
            <a:r>
              <a:rPr lang="en-US" dirty="0"/>
              <a:t>- 4x leading 0s</a:t>
            </a:r>
            <a:br>
              <a:rPr lang="en-US" dirty="0"/>
            </a:br>
            <a:r>
              <a:rPr lang="en-US" dirty="0"/>
              <a:t>- 12 bit data</a:t>
            </a:r>
            <a:br>
              <a:rPr lang="en-US" dirty="0"/>
            </a:br>
            <a:r>
              <a:rPr lang="en-US" dirty="0"/>
              <a:t>- 2 </a:t>
            </a:r>
            <a:r>
              <a:rPr lang="en-US" dirty="0" err="1"/>
              <a:t>clk</a:t>
            </a:r>
            <a:r>
              <a:rPr lang="en-US" dirty="0"/>
              <a:t> cycles CS </a:t>
            </a:r>
            <a:r>
              <a:rPr lang="en-US" dirty="0" err="1"/>
              <a:t>deasserted</a:t>
            </a:r>
            <a:br>
              <a:rPr lang="en-US" dirty="0"/>
            </a:br>
            <a:r>
              <a:rPr lang="en-US" dirty="0"/>
              <a:t>- reset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5191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SPI has 4 connections: MISO, MOSI, CLK, CS</a:t>
            </a:r>
          </a:p>
          <a:p>
            <a:br>
              <a:rPr lang="en-US"/>
            </a:br>
            <a:r>
              <a:rPr lang="en-US"/>
              <a:t>Module had to provide a CLK (Mode 0), assert the CS (active low), read the serial data on the MISO and forward it in parallel</a:t>
            </a:r>
          </a:p>
          <a:p>
            <a:br>
              <a:rPr lang="en-US"/>
            </a:br>
            <a:r>
              <a:rPr lang="en-US"/>
              <a:t>CLK divided to 10MHz which is the max value for the SPI CLK according to the datasheet of the ADC</a:t>
            </a:r>
          </a:p>
          <a:p>
            <a:br>
              <a:rPr lang="en-US"/>
            </a:br>
            <a:r>
              <a:rPr lang="en-US"/>
              <a:t>Implement a counter for timing</a:t>
            </a:r>
          </a:p>
          <a:p>
            <a:r>
              <a:rPr lang="en-US"/>
              <a:t>- counts from 0 to 17 and resets</a:t>
            </a:r>
            <a:br>
              <a:rPr lang="en-US"/>
            </a:br>
            <a:r>
              <a:rPr lang="en-US"/>
              <a:t>- 4x leading 0s</a:t>
            </a:r>
            <a:br>
              <a:rPr lang="en-US"/>
            </a:br>
            <a:r>
              <a:rPr lang="en-US"/>
              <a:t>- 12 bit data</a:t>
            </a:r>
            <a:br>
              <a:rPr lang="en-US"/>
            </a:br>
            <a:r>
              <a:rPr lang="en-US"/>
              <a:t>- 2 </a:t>
            </a:r>
            <a:r>
              <a:rPr lang="en-US" err="1"/>
              <a:t>clk</a:t>
            </a:r>
            <a:r>
              <a:rPr lang="en-US"/>
              <a:t> cycles CS </a:t>
            </a:r>
            <a:r>
              <a:rPr lang="en-US" err="1"/>
              <a:t>deasserted</a:t>
            </a:r>
            <a:br>
              <a:rPr lang="en-US"/>
            </a:br>
            <a:r>
              <a:rPr lang="en-US"/>
              <a:t>- reset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4984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646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6961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226">
          <p15:clr>
            <a:srgbClr val="FBAE40"/>
          </p15:clr>
        </p15:guide>
        <p15:guide id="2" pos="5534">
          <p15:clr>
            <a:srgbClr val="FBAE40"/>
          </p15:clr>
        </p15:guide>
        <p15:guide id="3" orient="horz" pos="100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orient="horz" pos="686">
          <p15:clr>
            <a:srgbClr val="FBAE40"/>
          </p15:clr>
        </p15:guide>
        <p15:guide id="6" orient="horz" pos="4178">
          <p15:clr>
            <a:srgbClr val="FBAE40"/>
          </p15:clr>
        </p15:guide>
        <p15:guide id="7" pos="170">
          <p15:clr>
            <a:srgbClr val="FBAE40"/>
          </p15:clr>
        </p15:guide>
        <p15:guide id="8" pos="559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59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4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705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83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53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36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16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2740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560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16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24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722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46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20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153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09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Header_Tuerkis.jpg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38"/>
            <a:ext cx="9144000" cy="65446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393894" y="217299"/>
            <a:ext cx="634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Electronics and Computer Engineering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13"/>
          <p:cNvCxnSpPr>
            <a:cxnSpLocks/>
          </p:cNvCxnSpPr>
          <p:nvPr/>
        </p:nvCxnSpPr>
        <p:spPr>
          <a:xfrm>
            <a:off x="269874" y="4733925"/>
            <a:ext cx="8604000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34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>
          <p15:clr>
            <a:srgbClr val="F26B43"/>
          </p15:clr>
        </p15:guide>
        <p15:guide id="1" pos="2880">
          <p15:clr>
            <a:srgbClr val="F26B43"/>
          </p15:clr>
        </p15:guide>
        <p15:guide id="2" pos="226">
          <p15:clr>
            <a:srgbClr val="F26B43"/>
          </p15:clr>
        </p15:guide>
        <p15:guide id="3" pos="170">
          <p15:clr>
            <a:srgbClr val="F26B43"/>
          </p15:clr>
        </p15:guide>
        <p15:guide id="4" pos="5534">
          <p15:clr>
            <a:srgbClr val="F26B43"/>
          </p15:clr>
        </p15:guide>
        <p15:guide id="5" pos="5590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41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atyushakar/rossmann-store-sale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866413" cy="1102519"/>
          </a:xfrm>
        </p:spPr>
        <p:txBody>
          <a:bodyPr>
            <a:normAutofit/>
          </a:bodyPr>
          <a:lstStyle/>
          <a:p>
            <a:r>
              <a:rPr lang="en-IN" noProof="0" dirty="0"/>
              <a:t>Data Analysis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>
            <a:normAutofit fontScale="92500"/>
          </a:bodyPr>
          <a:lstStyle/>
          <a:p>
            <a:r>
              <a:rPr lang="en-IN" noProof="0" dirty="0"/>
              <a:t>Team: </a:t>
            </a:r>
            <a:r>
              <a:rPr lang="en-IN" b="1" noProof="0" dirty="0"/>
              <a:t>Waveform Warriors</a:t>
            </a:r>
          </a:p>
          <a:p>
            <a:r>
              <a:rPr lang="en-IN" noProof="0" dirty="0"/>
              <a:t>												Juanith Mathew Thomas</a:t>
            </a:r>
          </a:p>
          <a:p>
            <a:r>
              <a:rPr lang="en-IN" noProof="0" dirty="0"/>
              <a:t>												Kornel </a:t>
            </a:r>
            <a:r>
              <a:rPr lang="en-IN" noProof="0" dirty="0" err="1"/>
              <a:t>Lengl</a:t>
            </a:r>
            <a:endParaRPr lang="en-IN" noProof="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9A61031-218B-DE66-72A5-5E561F52B418}"/>
              </a:ext>
            </a:extLst>
          </p:cNvPr>
          <p:cNvSpPr txBox="1">
            <a:spLocks/>
          </p:cNvSpPr>
          <p:nvPr/>
        </p:nvSpPr>
        <p:spPr>
          <a:xfrm>
            <a:off x="277587" y="1136877"/>
            <a:ext cx="8596539" cy="1314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Final assignment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8157E-E327-948D-DD86-FAD5BEA16AD9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18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058856" cy="29529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Data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dirty="0"/>
              <a:t>Probability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Law of large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Central limit theorem</a:t>
            </a:r>
          </a:p>
          <a:p>
            <a:pPr marL="514350" indent="-514350">
              <a:buFont typeface="+mj-lt"/>
              <a:buAutoNum type="arabicPeriod"/>
            </a:pPr>
            <a:endParaRPr lang="en-IN" sz="1800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538227-B69C-FF18-9FFE-E4920DC60B2E}"/>
              </a:ext>
            </a:extLst>
          </p:cNvPr>
          <p:cNvSpPr txBox="1">
            <a:spLocks/>
          </p:cNvSpPr>
          <p:nvPr/>
        </p:nvSpPr>
        <p:spPr>
          <a:xfrm>
            <a:off x="270860" y="715880"/>
            <a:ext cx="8602280" cy="5778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sz="2900" b="0">
                <a:solidFill>
                  <a:srgbClr val="000000"/>
                </a:solidFill>
                <a:ea typeface="+mn-lt"/>
                <a:cs typeface="+mn-lt"/>
              </a:rPr>
              <a:t>Table of contents</a:t>
            </a:r>
            <a:endParaRPr lang="en-IN" sz="2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7753F3-17A8-2E9C-F295-803AC49A1C61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33100574-74B0-699D-7958-21D7A1C96467}"/>
              </a:ext>
            </a:extLst>
          </p:cNvPr>
          <p:cNvSpPr txBox="1">
            <a:spLocks/>
          </p:cNvSpPr>
          <p:nvPr/>
        </p:nvSpPr>
        <p:spPr>
          <a:xfrm>
            <a:off x="4572000" y="1616699"/>
            <a:ext cx="4058856" cy="295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0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Actual vs. Predicted sales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PCA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t-SNE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UMAP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Chi-square test</a:t>
            </a:r>
          </a:p>
          <a:p>
            <a:pPr marL="514350" indent="-514350">
              <a:buFont typeface="+mj-lt"/>
              <a:buAutoNum type="arabicPeriod" startAt="7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3476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0BC5-E0FA-CD7C-4405-C87C192E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30B2-4DF9-1A30-87E0-FA5303F8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IN" b="0" noProof="0" dirty="0">
                <a:solidFill>
                  <a:srgbClr val="000000"/>
                </a:solidFill>
                <a:ea typeface="+mn-lt"/>
                <a:cs typeface="+mn-lt"/>
              </a:rPr>
              <a:t>Introduction</a:t>
            </a:r>
            <a:endParaRPr lang="en-IN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C1655A-CAF5-3A86-E141-D4331129B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875" y="1549996"/>
            <a:ext cx="4112713" cy="10228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noProof="0" dirty="0">
                <a:ea typeface="+mn-lt"/>
                <a:cs typeface="+mn-lt"/>
              </a:rPr>
              <a:t>We analyzed </a:t>
            </a:r>
            <a:r>
              <a:rPr lang="en-US" sz="2000" b="1" noProof="0" dirty="0">
                <a:ea typeface="+mn-lt"/>
                <a:cs typeface="+mn-lt"/>
              </a:rPr>
              <a:t>Rossmann Store </a:t>
            </a:r>
            <a:r>
              <a:rPr lang="en-US" sz="2000" noProof="0" dirty="0">
                <a:ea typeface="+mn-lt"/>
                <a:cs typeface="+mn-lt"/>
              </a:rPr>
              <a:t>Sales found on Kaggle: </a:t>
            </a:r>
            <a:r>
              <a:rPr lang="en-US" sz="2000" noProof="0" dirty="0">
                <a:ea typeface="+mn-lt"/>
                <a:cs typeface="+mn-lt"/>
                <a:hlinkClick r:id="rId2"/>
              </a:rPr>
              <a:t>link</a:t>
            </a:r>
            <a:endParaRPr lang="en-US" sz="2000" noProof="0" dirty="0">
              <a:ea typeface="+mn-lt"/>
              <a:cs typeface="+mn-lt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590EC9-FB97-3A41-74DC-57F7BA19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3</a:t>
            </a:fld>
            <a:endParaRPr lang="en-IN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CE66A1-A422-C919-25F8-C4F01577DAE2}"/>
              </a:ext>
            </a:extLst>
          </p:cNvPr>
          <p:cNvSpPr txBox="1"/>
          <p:nvPr/>
        </p:nvSpPr>
        <p:spPr>
          <a:xfrm>
            <a:off x="4300155" y="154999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 dirty="0">
                <a:ea typeface="+mn-lt"/>
                <a:cs typeface="+mn-lt"/>
              </a:rPr>
              <a:t>The dataset has:</a:t>
            </a:r>
          </a:p>
          <a:p>
            <a:pPr marL="457200" indent="-457200">
              <a:buAutoNum type="arabicPeriod"/>
            </a:pPr>
            <a:r>
              <a:rPr lang="en-US" sz="1800" i="1" noProof="0" dirty="0">
                <a:ea typeface="+mn-lt"/>
                <a:cs typeface="+mn-lt"/>
              </a:rPr>
              <a:t>1115 stores</a:t>
            </a:r>
          </a:p>
          <a:p>
            <a:pPr marL="457200" indent="-457200">
              <a:buAutoNum type="arabicPeriod"/>
            </a:pPr>
            <a:r>
              <a:rPr lang="en-US" sz="1800" i="1" dirty="0">
                <a:ea typeface="+mn-lt"/>
                <a:cs typeface="+mn-lt"/>
              </a:rPr>
              <a:t>750-980 rows </a:t>
            </a:r>
            <a:r>
              <a:rPr lang="en-US" sz="1800" dirty="0">
                <a:ea typeface="+mn-lt"/>
                <a:cs typeface="+mn-lt"/>
              </a:rPr>
              <a:t>for each store.</a:t>
            </a:r>
          </a:p>
          <a:p>
            <a:pPr marL="457200" indent="-457200">
              <a:buAutoNum type="arabicPeriod"/>
            </a:pPr>
            <a:r>
              <a:rPr lang="en-US" sz="1800" noProof="0" dirty="0">
                <a:ea typeface="+mn-lt"/>
                <a:cs typeface="+mn-lt"/>
              </a:rPr>
              <a:t>Each row consists of </a:t>
            </a:r>
            <a:r>
              <a:rPr lang="en-US" sz="1800" i="1" noProof="0" dirty="0">
                <a:ea typeface="+mn-lt"/>
                <a:cs typeface="+mn-lt"/>
              </a:rPr>
              <a:t>Sales, Promotions, Customers</a:t>
            </a:r>
            <a:r>
              <a:rPr lang="en-US" sz="1800" noProof="0" dirty="0">
                <a:ea typeface="+mn-lt"/>
                <a:cs typeface="+mn-lt"/>
              </a:rPr>
              <a:t>, etc.</a:t>
            </a:r>
            <a:endParaRPr lang="en-US" sz="1400" noProof="0" dirty="0">
              <a:ea typeface="+mn-lt"/>
              <a:cs typeface="+mn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4D524B-A72E-6DC1-4CB8-90E8046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4054"/>
              </p:ext>
            </p:extLst>
          </p:nvPr>
        </p:nvGraphicFramePr>
        <p:xfrm>
          <a:off x="754665" y="3237852"/>
          <a:ext cx="7632699" cy="762000"/>
        </p:xfrm>
        <a:graphic>
          <a:graphicData uri="http://schemas.openxmlformats.org/drawingml/2006/table">
            <a:tbl>
              <a:tblPr/>
              <a:tblGrid>
                <a:gridCol w="609093">
                  <a:extLst>
                    <a:ext uri="{9D8B030D-6E8A-4147-A177-3AD203B41FA5}">
                      <a16:colId xmlns:a16="http://schemas.microsoft.com/office/drawing/2014/main" val="740880409"/>
                    </a:ext>
                  </a:extLst>
                </a:gridCol>
                <a:gridCol w="942191">
                  <a:extLst>
                    <a:ext uri="{9D8B030D-6E8A-4147-A177-3AD203B41FA5}">
                      <a16:colId xmlns:a16="http://schemas.microsoft.com/office/drawing/2014/main" val="2683318585"/>
                    </a:ext>
                  </a:extLst>
                </a:gridCol>
                <a:gridCol w="989777">
                  <a:extLst>
                    <a:ext uri="{9D8B030D-6E8A-4147-A177-3AD203B41FA5}">
                      <a16:colId xmlns:a16="http://schemas.microsoft.com/office/drawing/2014/main" val="3406925052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863461609"/>
                    </a:ext>
                  </a:extLst>
                </a:gridCol>
                <a:gridCol w="888261">
                  <a:extLst>
                    <a:ext uri="{9D8B030D-6E8A-4147-A177-3AD203B41FA5}">
                      <a16:colId xmlns:a16="http://schemas.microsoft.com/office/drawing/2014/main" val="2613050966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3141586866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1458089323"/>
                    </a:ext>
                  </a:extLst>
                </a:gridCol>
                <a:gridCol w="1167429">
                  <a:extLst>
                    <a:ext uri="{9D8B030D-6E8A-4147-A177-3AD203B41FA5}">
                      <a16:colId xmlns:a16="http://schemas.microsoft.com/office/drawing/2014/main" val="3981268279"/>
                    </a:ext>
                  </a:extLst>
                </a:gridCol>
                <a:gridCol w="1208669">
                  <a:extLst>
                    <a:ext uri="{9D8B030D-6E8A-4147-A177-3AD203B41FA5}">
                      <a16:colId xmlns:a16="http://schemas.microsoft.com/office/drawing/2014/main" val="80853567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DayOfWeek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StateHoliday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SchoolHoliday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834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69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7754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76992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B099118-1E26-E5A6-5408-393F1D85F23B}"/>
              </a:ext>
            </a:extLst>
          </p:cNvPr>
          <p:cNvSpPr txBox="1"/>
          <p:nvPr/>
        </p:nvSpPr>
        <p:spPr>
          <a:xfrm>
            <a:off x="269875" y="4210381"/>
            <a:ext cx="45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shape: 1,017,209 x 9</a:t>
            </a: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650B24-D36A-EFD1-0EFB-AF028DC3F25E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0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03A5CC-8D32-417A-8C2A-ED9DE890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4</a:t>
            </a:fld>
            <a:endParaRPr lang="en-IN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201F917-E73A-70EA-B82A-CF8322D6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IN" b="0" noProof="0" dirty="0">
                <a:solidFill>
                  <a:srgbClr val="000000"/>
                </a:solidFill>
                <a:ea typeface="+mn-lt"/>
                <a:cs typeface="+mn-lt"/>
              </a:rPr>
              <a:t>Data preprocessing</a:t>
            </a:r>
            <a:endParaRPr lang="en-IN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9BCF6D-9686-7192-3724-4215F0535B86}"/>
              </a:ext>
            </a:extLst>
          </p:cNvPr>
          <p:cNvSpPr txBox="1"/>
          <p:nvPr/>
        </p:nvSpPr>
        <p:spPr>
          <a:xfrm>
            <a:off x="269875" y="4210381"/>
            <a:ext cx="45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shape: 337,924  x 10</a:t>
            </a: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57B24AA4-F30B-A2D8-25C4-258B6D22A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874" y="1549996"/>
            <a:ext cx="7064919" cy="24145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Extracted: 406,974 rows</a:t>
            </a:r>
          </a:p>
          <a:p>
            <a:pPr marL="342900" indent="-342900">
              <a:buAutoNum type="arabicPeriod"/>
            </a:pPr>
            <a:r>
              <a:rPr lang="en-IN" sz="2000" dirty="0"/>
              <a:t>Null values: 0 cells</a:t>
            </a:r>
          </a:p>
          <a:p>
            <a:pPr marL="342900" indent="-342900">
              <a:buAutoNum type="arabicPeriod"/>
            </a:pPr>
            <a:r>
              <a:rPr lang="en-IN" sz="2000" dirty="0"/>
              <a:t>Duplicates: 0 rows</a:t>
            </a:r>
          </a:p>
          <a:p>
            <a:pPr marL="342900" indent="-342900">
              <a:buAutoNum type="arabicPeriod"/>
            </a:pPr>
            <a:r>
              <a:rPr lang="en-IN" sz="2000" dirty="0"/>
              <a:t>No sale days: 69,050 (removed)</a:t>
            </a:r>
          </a:p>
          <a:p>
            <a:pPr marL="342900" indent="-342900">
              <a:buAutoNum type="arabicPeriod"/>
            </a:pPr>
            <a:r>
              <a:rPr lang="en-IN" sz="2000" dirty="0"/>
              <a:t>Outliers: 11,167 (not removed)</a:t>
            </a:r>
          </a:p>
          <a:p>
            <a:pPr marL="342900" indent="-342900">
              <a:buAutoNum type="arabicPeriod"/>
            </a:pPr>
            <a:r>
              <a:rPr lang="en-IN" sz="2000" dirty="0"/>
              <a:t>Features engineered: “</a:t>
            </a:r>
            <a:r>
              <a:rPr lang="en-IN" sz="2000" dirty="0" err="1"/>
              <a:t>IsWeekend</a:t>
            </a:r>
            <a:r>
              <a:rPr lang="en-IN" sz="2000" dirty="0"/>
              <a:t>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2F8A0-372B-49E1-DFDB-B024A9732A16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53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EC380-BF25-8C64-61F1-CA897E2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5</a:t>
            </a:fld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38BF8-1165-938C-CDEF-703E70E6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48" y="705293"/>
            <a:ext cx="7876903" cy="39413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A5323B-3F33-3965-C6CF-7B64F71158CF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202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8FE6DB-CD7E-1E59-DDD2-E1D362F3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B83620-36C4-295D-8BFE-E42BEB8E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6</a:t>
            </a:fld>
            <a:endParaRPr lang="en-IN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97FE1-681C-4629-41CB-87980F1897CB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549F1-C941-ED00-7F47-E5FECFBE4231}"/>
              </a:ext>
            </a:extLst>
          </p:cNvPr>
          <p:cNvSpPr txBox="1"/>
          <p:nvPr/>
        </p:nvSpPr>
        <p:spPr>
          <a:xfrm>
            <a:off x="1020985" y="1840162"/>
            <a:ext cx="2852150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P(</a:t>
            </a:r>
            <a:r>
              <a:rPr lang="en-IN" sz="12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HighSales</a:t>
            </a: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 | Promo=1): 18.03 % 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P(</a:t>
            </a:r>
            <a:r>
              <a:rPr lang="en-IN" sz="12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HighSales</a:t>
            </a: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 | Promo=0): 3.87 % </a:t>
            </a: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396678-B4DB-0F3C-CE30-8010B4C0B7EC}"/>
              </a:ext>
            </a:extLst>
          </p:cNvPr>
          <p:cNvSpPr txBox="1"/>
          <p:nvPr/>
        </p:nvSpPr>
        <p:spPr>
          <a:xfrm>
            <a:off x="1020985" y="2687459"/>
            <a:ext cx="2734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P(</a:t>
            </a:r>
            <a:r>
              <a:rPr lang="en-IN" sz="12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LowSales</a:t>
            </a: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 | Promo=1): 0.82 % </a:t>
            </a:r>
          </a:p>
          <a:p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P(</a:t>
            </a:r>
            <a:r>
              <a:rPr lang="en-IN" sz="12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LowSales</a:t>
            </a:r>
            <a:r>
              <a:rPr lang="en-IN" sz="12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 | Promo=0): 17.42 %</a:t>
            </a: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73011A-4705-7E67-E1EF-A07FB2E87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9219"/>
              </p:ext>
            </p:extLst>
          </p:nvPr>
        </p:nvGraphicFramePr>
        <p:xfrm>
          <a:off x="5270867" y="1941931"/>
          <a:ext cx="2264319" cy="1036320"/>
        </p:xfrm>
        <a:graphic>
          <a:graphicData uri="http://schemas.openxmlformats.org/drawingml/2006/table">
            <a:tbl>
              <a:tblPr/>
              <a:tblGrid>
                <a:gridCol w="964565">
                  <a:extLst>
                    <a:ext uri="{9D8B030D-6E8A-4147-A177-3AD203B41FA5}">
                      <a16:colId xmlns:a16="http://schemas.microsoft.com/office/drawing/2014/main" val="560548991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3732563124"/>
                    </a:ext>
                  </a:extLst>
                </a:gridCol>
                <a:gridCol w="666205">
                  <a:extLst>
                    <a:ext uri="{9D8B030D-6E8A-4147-A177-3AD203B41FA5}">
                      <a16:colId xmlns:a16="http://schemas.microsoft.com/office/drawing/2014/main" val="106338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 err="1">
                          <a:solidFill>
                            <a:srgbClr val="FF0000"/>
                          </a:solidFill>
                          <a:effectLst/>
                        </a:rPr>
                        <a:t>IsWeekend</a:t>
                      </a:r>
                      <a:endParaRPr lang="en-IN" sz="12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8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00B050"/>
                          </a:solidFill>
                          <a:effectLst/>
                        </a:rPr>
                        <a:t>Promo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7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54.97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45.03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30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80.45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19.55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0957"/>
                  </a:ext>
                </a:extLst>
              </a:tr>
            </a:tbl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563DED40-DE47-BDC7-9F1E-7150BC75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P</a:t>
            </a:r>
            <a:r>
              <a:rPr lang="en-IN" b="0" dirty="0">
                <a:solidFill>
                  <a:srgbClr val="000000"/>
                </a:solidFill>
                <a:ea typeface="+mn-lt"/>
                <a:cs typeface="+mn-lt"/>
              </a:rPr>
              <a:t>robability analysis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4825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C6AD-DD57-0842-4695-2751B605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A9E274-5947-BB89-52DA-5621D2A9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7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34248-9CED-EBE8-933C-8D4BE3DAC7B2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B6220BE-DA63-29C0-9817-9D0C5F0E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2235930" cy="995174"/>
          </a:xfrm>
        </p:spPr>
        <p:txBody>
          <a:bodyPr>
            <a:norm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Law of Large </a:t>
            </a:r>
            <a:b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Numbers</a:t>
            </a:r>
            <a:endParaRPr lang="en-IN" sz="29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2677BA-322E-843C-F66F-9D0048AE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805" y="709530"/>
            <a:ext cx="5781272" cy="398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6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5D39-9CDE-9BC7-BF7E-7962628C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A7A928-0B9B-393C-7359-CD3C46BD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8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4DA7E2-4265-B731-F9B8-0A90CD724304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48B4CDC-0CDA-6196-7522-685A0560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2303508" cy="995174"/>
          </a:xfrm>
        </p:spPr>
        <p:txBody>
          <a:bodyPr>
            <a:norm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Central Limit</a:t>
            </a:r>
            <a:b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Theorem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67436-5BC5-3C23-C79B-F6248A67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514"/>
          <a:stretch>
            <a:fillRect/>
          </a:stretch>
        </p:blipFill>
        <p:spPr>
          <a:xfrm>
            <a:off x="2411404" y="1001812"/>
            <a:ext cx="3257876" cy="3139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E05DC-1E0C-48DF-AE4D-7B1388195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566" y="1001812"/>
            <a:ext cx="3230741" cy="31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4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4E6-0D18-9B43-DC01-8BD714C6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8D0AE4-0673-9913-43DA-F25E24F3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9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104C4-7BEC-4D60-BEB8-CA3E703AFEA5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01C45F4-4BA0-B957-386D-128A27E6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3831863" cy="995174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Actual vs. Predicted sales</a:t>
            </a:r>
            <a:endParaRPr lang="en-IN" sz="29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52586-B1EC-5ED4-6A24-C030ADBB4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296" y="709530"/>
            <a:ext cx="3964577" cy="39645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BC429-FB2A-B706-EC54-D6D9E115D541}"/>
              </a:ext>
            </a:extLst>
          </p:cNvPr>
          <p:cNvSpPr txBox="1"/>
          <p:nvPr/>
        </p:nvSpPr>
        <p:spPr>
          <a:xfrm>
            <a:off x="269874" y="1704704"/>
            <a:ext cx="3831863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Mean sales: 6814.95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Root mean square error (polynomial-2 linear regression): 1497.67 (21.97%)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Inaccuracy is likely due to: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1. Calendar patterns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2. Insufficient store wise data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3. Varying promotions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R²: 0.77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MAE: 1076.48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Reference notebooks were searched and algorithms such as Random Forest, </a:t>
            </a:r>
            <a:r>
              <a:rPr lang="en-US" sz="1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XGBoost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show accuracy reaching ~90% instead of ~83% here.</a:t>
            </a:r>
          </a:p>
        </p:txBody>
      </p:sp>
    </p:spTree>
    <p:extLst>
      <p:ext uri="{BB962C8B-B14F-4D97-AF65-F5344CB8AC3E}">
        <p14:creationId xmlns:p14="http://schemas.microsoft.com/office/powerpoint/2010/main" val="8798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9555C-92FA-92F2-A740-E52341FC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8223E1-A4CE-E4AE-BBED-67D06EA3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10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C3A0F-E9FD-7133-E9E4-E33DA11631ED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3A4DF8F-54C6-3AF8-2388-1C6FE4C3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PCA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91599-AEAC-DF0A-33F3-ABDF30EC1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49"/>
          <a:stretch>
            <a:fillRect/>
          </a:stretch>
        </p:blipFill>
        <p:spPr>
          <a:xfrm>
            <a:off x="1870074" y="1205573"/>
            <a:ext cx="3212878" cy="28718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435F6E-4794-EC60-95A3-42CC339131DB}"/>
              </a:ext>
            </a:extLst>
          </p:cNvPr>
          <p:cNvSpPr txBox="1"/>
          <p:nvPr/>
        </p:nvSpPr>
        <p:spPr>
          <a:xfrm>
            <a:off x="269874" y="1704704"/>
            <a:ext cx="16438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Explained variance 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ratio: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PC1: 20.618%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PC2: 19.853%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PC3: 10.908%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371E11-4E67-7FC6-D442-E0182709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02" y="1207706"/>
            <a:ext cx="3696553" cy="286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6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1787-6B8C-29ED-8916-FB697745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9FFC38-94C7-0F52-86DA-9006C979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11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352963-7DC4-00FE-0E83-FB7672928BD8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AF8325C-7C6C-B19B-F396-83B96FC0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PCA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FF6DC-8FB4-38D7-9FE9-4D91C8E9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37045" y="1189097"/>
            <a:ext cx="5026986" cy="3118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1E147-2791-873A-176A-11CA3C72B1B6}"/>
              </a:ext>
            </a:extLst>
          </p:cNvPr>
          <p:cNvSpPr txBox="1"/>
          <p:nvPr/>
        </p:nvSpPr>
        <p:spPr>
          <a:xfrm>
            <a:off x="269875" y="1704704"/>
            <a:ext cx="304809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Cumulative variance: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k=2: 40.47%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k=3: 51.38%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 for 80%: 6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 for 90%: 7</a:t>
            </a:r>
          </a:p>
        </p:txBody>
      </p:sp>
    </p:spTree>
    <p:extLst>
      <p:ext uri="{BB962C8B-B14F-4D97-AF65-F5344CB8AC3E}">
        <p14:creationId xmlns:p14="http://schemas.microsoft.com/office/powerpoint/2010/main" val="156643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8E77-1CC8-B5CA-6039-7DEB55EE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0CFE2-6DF3-572D-2D2C-01675C1D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12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6F86E-97F0-D4FC-0642-70F0D12293E7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F33CC8B-9EEF-7F3B-E07A-B8902C3E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t-SNE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42C42-AD9A-0257-6644-0BDEE6FB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1490" y="709530"/>
            <a:ext cx="3938558" cy="3972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1E5E51-5233-5911-E3C3-2BD4707C6906}"/>
              </a:ext>
            </a:extLst>
          </p:cNvPr>
          <p:cNvSpPr txBox="1"/>
          <p:nvPr/>
        </p:nvSpPr>
        <p:spPr>
          <a:xfrm>
            <a:off x="269875" y="1704704"/>
            <a:ext cx="3048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 Since we see that Promo regions are different from non-promo regions, there's a fundamental difference between the two.</a:t>
            </a:r>
          </a:p>
        </p:txBody>
      </p:sp>
    </p:spTree>
    <p:extLst>
      <p:ext uri="{BB962C8B-B14F-4D97-AF65-F5344CB8AC3E}">
        <p14:creationId xmlns:p14="http://schemas.microsoft.com/office/powerpoint/2010/main" val="1629104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1D73-6B22-4A14-98A9-934FB529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C7E10C-9515-CC65-4ACA-A66442CF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13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CF52B4-D98A-5106-C576-AC78BF012FCF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5116E22-4C0E-0F37-6FCB-6AA1933E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UMAP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F8AB5-7820-48EE-7333-11F16265C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4856" y="709530"/>
            <a:ext cx="3931825" cy="3972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AE776B-D06F-7031-7403-80283D9D05C5}"/>
              </a:ext>
            </a:extLst>
          </p:cNvPr>
          <p:cNvSpPr txBox="1"/>
          <p:nvPr/>
        </p:nvSpPr>
        <p:spPr>
          <a:xfrm>
            <a:off x="269875" y="1704704"/>
            <a:ext cx="30480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 We observe the local neighborhoods being preserved.</a:t>
            </a:r>
          </a:p>
        </p:txBody>
      </p:sp>
    </p:spTree>
    <p:extLst>
      <p:ext uri="{BB962C8B-B14F-4D97-AF65-F5344CB8AC3E}">
        <p14:creationId xmlns:p14="http://schemas.microsoft.com/office/powerpoint/2010/main" val="206289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6106-C7FE-4FD5-09CE-E77B1C49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C74D5A-3D47-1D24-F880-71F7E593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14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EBE396-E23A-D9F9-C72D-24D6BB91C95A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75C8803-F0F3-95DC-4F75-C6E71D2A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Chi-square test</a:t>
            </a:r>
            <a:endParaRPr lang="en-IN" sz="29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C1DCEE-0AB6-3280-3B42-20D3B21F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832890"/>
              </p:ext>
            </p:extLst>
          </p:nvPr>
        </p:nvGraphicFramePr>
        <p:xfrm>
          <a:off x="5270867" y="1941931"/>
          <a:ext cx="2264319" cy="1036320"/>
        </p:xfrm>
        <a:graphic>
          <a:graphicData uri="http://schemas.openxmlformats.org/drawingml/2006/table">
            <a:tbl>
              <a:tblPr/>
              <a:tblGrid>
                <a:gridCol w="964565">
                  <a:extLst>
                    <a:ext uri="{9D8B030D-6E8A-4147-A177-3AD203B41FA5}">
                      <a16:colId xmlns:a16="http://schemas.microsoft.com/office/drawing/2014/main" val="560548991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3732563124"/>
                    </a:ext>
                  </a:extLst>
                </a:gridCol>
                <a:gridCol w="666205">
                  <a:extLst>
                    <a:ext uri="{9D8B030D-6E8A-4147-A177-3AD203B41FA5}">
                      <a16:colId xmlns:a16="http://schemas.microsoft.com/office/drawing/2014/main" val="106338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 err="1">
                          <a:solidFill>
                            <a:srgbClr val="FF0000"/>
                          </a:solidFill>
                          <a:effectLst/>
                        </a:rPr>
                        <a:t>IsWeekend</a:t>
                      </a:r>
                      <a:endParaRPr lang="en-IN" sz="12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8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00B050"/>
                          </a:solidFill>
                          <a:effectLst/>
                        </a:rPr>
                        <a:t>Promo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7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104492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86444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30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118060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28928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09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622599E-9E6C-1DC5-4BE6-76102DAF5BFD}"/>
              </a:ext>
            </a:extLst>
          </p:cNvPr>
          <p:cNvSpPr txBox="1"/>
          <p:nvPr/>
        </p:nvSpPr>
        <p:spPr>
          <a:xfrm>
            <a:off x="612408" y="1689035"/>
            <a:ext cx="3324592" cy="263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Null Hypothesis: The events “</a:t>
            </a:r>
            <a:r>
              <a:rPr lang="en-IN" sz="1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IsWeekend</a:t>
            </a: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” and “Promo” are independent.</a:t>
            </a:r>
          </a:p>
          <a:p>
            <a:pPr algn="l">
              <a:lnSpc>
                <a:spcPts val="1650"/>
              </a:lnSpc>
              <a:buNone/>
            </a:pP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Results for the test: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hi2=24192.940</a:t>
            </a: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IN" sz="11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dof</a:t>
            </a: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=1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p-value=0 </a:t>
            </a:r>
          </a:p>
          <a:p>
            <a:pPr>
              <a:buNone/>
            </a:pP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Hypothesis rejected, explanation:</a:t>
            </a:r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Chances of Promo happening on a weekend: 20%.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Chances of Promo happening on a weekday: 45%.</a:t>
            </a:r>
          </a:p>
        </p:txBody>
      </p:sp>
    </p:spTree>
    <p:extLst>
      <p:ext uri="{BB962C8B-B14F-4D97-AF65-F5344CB8AC3E}">
        <p14:creationId xmlns:p14="http://schemas.microsoft.com/office/powerpoint/2010/main" val="972849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841D-DEAB-F6E3-D9BB-347809E9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FD6F-7166-8ADB-2711-55FC1ADA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15</a:t>
            </a:fld>
            <a:endParaRPr lang="en-IN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34D77-04B6-6F9B-CCCB-D3DCC4712A21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252373"/>
      </p:ext>
    </p:extLst>
  </p:cSld>
  <p:clrMapOvr>
    <a:masterClrMapping/>
  </p:clrMapOvr>
</p:sld>
</file>

<file path=ppt/theme/theme1.xml><?xml version="1.0" encoding="utf-8"?>
<a:theme xmlns:a="http://schemas.openxmlformats.org/drawingml/2006/main" name="PPT_Vorlage_Engineering_türkis">
  <a:themeElements>
    <a:clrScheme name="FH türk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0B0CA"/>
      </a:accent1>
      <a:accent2>
        <a:srgbClr val="056781"/>
      </a:accent2>
      <a:accent3>
        <a:srgbClr val="22FFFE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CE 16.9.potx" id="{4BD5A669-AD90-4F44-AE52-AAFD8A160261}" vid="{0CDBE95F-7691-409F-AC69-099C0587BE0B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2ACDE74A2A2C148AF37D6C55BF06341" ma:contentTypeVersion="9" ma:contentTypeDescription="Ein neues Dokument erstellen." ma:contentTypeScope="" ma:versionID="f123b95d3be20b1740652f236d486588">
  <xsd:schema xmlns:xsd="http://www.w3.org/2001/XMLSchema" xmlns:xs="http://www.w3.org/2001/XMLSchema" xmlns:p="http://schemas.microsoft.com/office/2006/metadata/properties" xmlns:ns3="17fda8c1-7b7d-4ef3-94f6-1b5b56b1be93" targetNamespace="http://schemas.microsoft.com/office/2006/metadata/properties" ma:root="true" ma:fieldsID="3587dbe939ec4debce37c53b11c43107" ns3:_="">
    <xsd:import namespace="17fda8c1-7b7d-4ef3-94f6-1b5b56b1be9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da8c1-7b7d-4ef3-94f6-1b5b56b1be9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fda8c1-7b7d-4ef3-94f6-1b5b56b1be93" xsi:nil="true"/>
  </documentManagement>
</p:properties>
</file>

<file path=customXml/itemProps1.xml><?xml version="1.0" encoding="utf-8"?>
<ds:datastoreItem xmlns:ds="http://schemas.openxmlformats.org/officeDocument/2006/customXml" ds:itemID="{C791833B-1B8B-4982-BD48-03625D3CDF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da8c1-7b7d-4ef3-94f6-1b5b56b1be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56F216-D30B-42F9-92C8-488AA33292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157B82-0CB4-4D50-AE10-71E289FD6DFB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17fda8c1-7b7d-4ef3-94f6-1b5b56b1be9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DCD_Multimeter_GroupA</Template>
  <TotalTime>100</TotalTime>
  <Words>702</Words>
  <Application>Microsoft Office PowerPoint</Application>
  <PresentationFormat>On-screen Show (16:9)</PresentationFormat>
  <Paragraphs>185</Paragraphs>
  <Slides>15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 Narrow</vt:lpstr>
      <vt:lpstr>Arial</vt:lpstr>
      <vt:lpstr>Calibri</vt:lpstr>
      <vt:lpstr>Consolas</vt:lpstr>
      <vt:lpstr>PPT_Vorlage_Engineering_türkis</vt:lpstr>
      <vt:lpstr>Data Analysis</vt:lpstr>
      <vt:lpstr>PowerPoint Presentation</vt:lpstr>
      <vt:lpstr>Introduction</vt:lpstr>
      <vt:lpstr>Data preprocessing</vt:lpstr>
      <vt:lpstr>PowerPoint Presentation</vt:lpstr>
      <vt:lpstr>Probability analysis</vt:lpstr>
      <vt:lpstr>Law of Large  Numbers</vt:lpstr>
      <vt:lpstr>Central Limit Theorem</vt:lpstr>
      <vt:lpstr>Actual vs. Predicted sales</vt:lpstr>
      <vt:lpstr>PCA</vt:lpstr>
      <vt:lpstr>PCA</vt:lpstr>
      <vt:lpstr>t-SNE</vt:lpstr>
      <vt:lpstr>UMAP</vt:lpstr>
      <vt:lpstr>Chi-square test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.. Juanith</dc:creator>
  <cp:lastModifiedBy>.. Juanith</cp:lastModifiedBy>
  <cp:revision>2</cp:revision>
  <dcterms:created xsi:type="dcterms:W3CDTF">2026-01-26T22:28:00Z</dcterms:created>
  <dcterms:modified xsi:type="dcterms:W3CDTF">2026-01-27T00:08:03Z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0x010100C2ACDE74A2A2C148AF37D6C55BF06341</vt:lpwstr>
  </property>
</Properties>
</file>